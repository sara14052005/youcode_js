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69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0" y="5074920"/>
            <a:ext cx="12191695" cy="1463040"/>
          </a:xfrm>
          <a:prstGeom prst="rect">
            <a:avLst/>
          </a:prstGeom>
          <a:noFill/>
          <a:ln/>
        </p:spPr>
        <p:txBody>
          <a:bodyPr wrap="square" lIns="0" tIns="0" rIns="0" bIns="0" rtlCol="0" anchor="ctr"/>
          <a:lstStyle/>
          <a:p>
            <a:pPr marL="0" indent="0" algn="ctr">
              <a:buNone/>
            </a:pPr>
            <a:r>
              <a:rPr lang="en-US" sz="9000" b="1" kern="0" spc="400" dirty="0">
                <a:solidFill>
                  <a:srgbClr val="132A4E"/>
                </a:solidFill>
                <a:latin typeface="Cambria" pitchFamily="34" charset="0"/>
                <a:ea typeface="Cambria" pitchFamily="34" charset="-122"/>
                <a:cs typeface="Cambria" pitchFamily="34" charset="-120"/>
              </a:rPr>
              <a:t>2  3  4  5  8</a:t>
            </a:r>
            <a:endParaRPr lang="en-US" sz="9000" dirty="0"/>
          </a:p>
        </p:txBody>
      </p:sp>
      <p:sp>
        <p:nvSpPr>
          <p:cNvPr id="4" name="Text 2"/>
          <p:cNvSpPr/>
          <p:nvPr/>
        </p:nvSpPr>
        <p:spPr>
          <a:xfrm>
            <a:off x="822960" y="2331720"/>
            <a:ext cx="10545775" cy="365760"/>
          </a:xfrm>
          <a:prstGeom prst="rect">
            <a:avLst/>
          </a:prstGeom>
          <a:noFill/>
          <a:ln/>
        </p:spPr>
        <p:txBody>
          <a:bodyPr wrap="square" lIns="0" tIns="0" rIns="0" bIns="0" rtlCol="0" anchor="ctr"/>
          <a:lstStyle/>
          <a:p>
            <a:pPr marL="0" indent="0" algn="l">
              <a:buNone/>
            </a:pPr>
            <a:r>
              <a:rPr lang="en-US" sz="1400" b="1" kern="0" spc="400" dirty="0">
                <a:solidFill>
                  <a:srgbClr val="D4AF37"/>
                </a:solidFill>
                <a:latin typeface="Calibri" pitchFamily="34" charset="0"/>
                <a:ea typeface="Calibri" pitchFamily="34" charset="-122"/>
                <a:cs typeface="Calibri" pitchFamily="34" charset="-120"/>
              </a:rPr>
              <a:t>A CLEAR, VISUAL INTRODUCTION</a:t>
            </a:r>
            <a:endParaRPr lang="en-US" sz="1400" dirty="0"/>
          </a:p>
        </p:txBody>
      </p:sp>
      <p:sp>
        <p:nvSpPr>
          <p:cNvPr id="5" name="Text 3"/>
          <p:cNvSpPr/>
          <p:nvPr/>
        </p:nvSpPr>
        <p:spPr>
          <a:xfrm>
            <a:off x="822960" y="2697480"/>
            <a:ext cx="10545775" cy="118872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Sorting Algorithms</a:t>
            </a:r>
            <a:endParaRPr lang="en-US" sz="5400" dirty="0"/>
          </a:p>
        </p:txBody>
      </p:sp>
      <p:sp>
        <p:nvSpPr>
          <p:cNvPr id="6" name="Text 4"/>
          <p:cNvSpPr/>
          <p:nvPr/>
        </p:nvSpPr>
        <p:spPr>
          <a:xfrm>
            <a:off x="822960" y="3703320"/>
            <a:ext cx="10545775" cy="457200"/>
          </a:xfrm>
          <a:prstGeom prst="rect">
            <a:avLst/>
          </a:prstGeom>
          <a:noFill/>
          <a:ln/>
        </p:spPr>
        <p:txBody>
          <a:bodyPr wrap="square" lIns="0" tIns="0" rIns="0" bIns="0" rtlCol="0" anchor="ctr"/>
          <a:lstStyle/>
          <a:p>
            <a:pPr marL="0" indent="0" algn="l">
              <a:buNone/>
            </a:pPr>
            <a:r>
              <a:rPr lang="en-US" sz="1800" dirty="0">
                <a:solidFill>
                  <a:srgbClr val="E9CE72"/>
                </a:solidFill>
                <a:latin typeface="Calibri" pitchFamily="34" charset="0"/>
                <a:ea typeface="Calibri" pitchFamily="34" charset="-122"/>
                <a:cs typeface="Calibri" pitchFamily="34" charset="-120"/>
              </a:rPr>
              <a:t>Bubble Sort  •  Selection Sort  •  Insertion Sort</a:t>
            </a:r>
            <a:endParaRPr lang="en-US" sz="1800" dirty="0"/>
          </a:p>
        </p:txBody>
      </p:sp>
      <p:sp>
        <p:nvSpPr>
          <p:cNvPr id="7" name="Shape 5"/>
          <p:cNvSpPr/>
          <p:nvPr/>
        </p:nvSpPr>
        <p:spPr>
          <a:xfrm>
            <a:off x="868680" y="2212848"/>
            <a:ext cx="1280160" cy="0"/>
          </a:xfrm>
          <a:prstGeom prst="line">
            <a:avLst/>
          </a:prstGeom>
          <a:noFill/>
          <a:ln w="25400">
            <a:solidFill>
              <a:srgbClr val="D4AF37"/>
            </a:solidFill>
            <a:prstDash val="solid"/>
          </a:ln>
        </p:spPr>
        <p:txBody>
          <a:bodyPr/>
          <a:lstStyle/>
          <a:p>
            <a:endParaRPr lang="fr-MA"/>
          </a:p>
        </p:txBody>
      </p:sp>
      <p:sp>
        <p:nvSpPr>
          <p:cNvPr id="8" name="Text 6"/>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9" name="Text 7"/>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01</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FOUNDATIONS</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What Is a Sorting Algorithm?</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02</a:t>
            </a:r>
            <a:endParaRPr lang="en-US" sz="1000" dirty="0"/>
          </a:p>
        </p:txBody>
      </p:sp>
      <p:sp>
        <p:nvSpPr>
          <p:cNvPr id="7" name="Text 5"/>
          <p:cNvSpPr/>
          <p:nvPr/>
        </p:nvSpPr>
        <p:spPr>
          <a:xfrm>
            <a:off x="640080" y="1828800"/>
            <a:ext cx="5577840" cy="1828800"/>
          </a:xfrm>
          <a:prstGeom prst="rect">
            <a:avLst/>
          </a:prstGeom>
          <a:noFill/>
          <a:ln/>
        </p:spPr>
        <p:txBody>
          <a:bodyPr wrap="square" lIns="0" tIns="0" rIns="0" bIns="0" rtlCol="0" anchor="t"/>
          <a:lstStyle/>
          <a:p>
            <a:pPr marL="0" indent="0" algn="l">
              <a:lnSpc>
                <a:spcPct val="125000"/>
              </a:lnSpc>
              <a:buNone/>
            </a:pPr>
            <a:r>
              <a:rPr lang="en-US" sz="1650" dirty="0">
                <a:solidFill>
                  <a:srgbClr val="FFFFFF"/>
                </a:solidFill>
                <a:latin typeface="Calibri" pitchFamily="34" charset="0"/>
                <a:ea typeface="Calibri" pitchFamily="34" charset="-122"/>
                <a:cs typeface="Calibri" pitchFamily="34" charset="-120"/>
              </a:rPr>
              <a:t>A sorting algorithm is a precise, step-by-step procedure that takes a collection of items and rearranges them into a defined order — typically ascending or descending — based on a comparison rule.</a:t>
            </a:r>
            <a:endParaRPr lang="en-US" sz="1650" dirty="0"/>
          </a:p>
        </p:txBody>
      </p:sp>
      <p:sp>
        <p:nvSpPr>
          <p:cNvPr id="8" name="Text 6"/>
          <p:cNvSpPr/>
          <p:nvPr/>
        </p:nvSpPr>
        <p:spPr>
          <a:xfrm>
            <a:off x="640080" y="3794760"/>
            <a:ext cx="5577840" cy="1188720"/>
          </a:xfrm>
          <a:prstGeom prst="rect">
            <a:avLst/>
          </a:prstGeom>
          <a:noFill/>
          <a:ln/>
        </p:spPr>
        <p:txBody>
          <a:bodyPr wrap="square" lIns="0" tIns="0" rIns="0" bIns="0" rtlCol="0" anchor="t"/>
          <a:lstStyle/>
          <a:p>
            <a:pPr marL="0" indent="0" algn="l">
              <a:lnSpc>
                <a:spcPct val="130000"/>
              </a:lnSpc>
              <a:buNone/>
            </a:pPr>
            <a:r>
              <a:rPr lang="en-US" sz="1400" dirty="0">
                <a:solidFill>
                  <a:srgbClr val="9FB3CF"/>
                </a:solidFill>
                <a:latin typeface="Calibri" pitchFamily="34" charset="0"/>
                <a:ea typeface="Calibri" pitchFamily="34" charset="-122"/>
                <a:cs typeface="Calibri" pitchFamily="34" charset="-120"/>
              </a:rPr>
              <a:t>It doesn’t just move items around — it repeats the same rule (compare, then place) until every element sits in its correct position relative to its neighbors.</a:t>
            </a:r>
            <a:endParaRPr lang="en-US" sz="1400" dirty="0"/>
          </a:p>
        </p:txBody>
      </p:sp>
      <p:sp>
        <p:nvSpPr>
          <p:cNvPr id="9" name="Shape 7"/>
          <p:cNvSpPr/>
          <p:nvPr/>
        </p:nvSpPr>
        <p:spPr>
          <a:xfrm>
            <a:off x="6629400" y="1783080"/>
            <a:ext cx="4937760" cy="3977640"/>
          </a:xfrm>
          <a:prstGeom prst="roundRect">
            <a:avLst>
              <a:gd name="adj" fmla="val 2759"/>
            </a:avLst>
          </a:prstGeom>
          <a:solidFill>
            <a:srgbClr val="132A4E"/>
          </a:solidFill>
          <a:ln w="12700">
            <a:solidFill>
              <a:srgbClr val="24406E"/>
            </a:solidFill>
            <a:prstDash val="solid"/>
          </a:ln>
        </p:spPr>
        <p:txBody>
          <a:bodyPr/>
          <a:lstStyle/>
          <a:p>
            <a:endParaRPr lang="fr-MA"/>
          </a:p>
        </p:txBody>
      </p:sp>
      <p:sp>
        <p:nvSpPr>
          <p:cNvPr id="10" name="Text 8"/>
          <p:cNvSpPr/>
          <p:nvPr/>
        </p:nvSpPr>
        <p:spPr>
          <a:xfrm>
            <a:off x="6995160" y="2103120"/>
            <a:ext cx="1828800" cy="274320"/>
          </a:xfrm>
          <a:prstGeom prst="rect">
            <a:avLst/>
          </a:prstGeom>
          <a:noFill/>
          <a:ln/>
        </p:spPr>
        <p:txBody>
          <a:bodyPr wrap="square" lIns="0" tIns="0" rIns="0" bIns="0" rtlCol="0" anchor="ctr"/>
          <a:lstStyle/>
          <a:p>
            <a:pPr marL="0" indent="0" algn="l">
              <a:buNone/>
            </a:pPr>
            <a:r>
              <a:rPr lang="en-US" sz="1100" b="1" kern="0" spc="200" dirty="0">
                <a:solidFill>
                  <a:srgbClr val="9FB3CF"/>
                </a:solidFill>
                <a:latin typeface="Calibri" pitchFamily="34" charset="0"/>
                <a:ea typeface="Calibri" pitchFamily="34" charset="-122"/>
                <a:cs typeface="Calibri" pitchFamily="34" charset="-120"/>
              </a:rPr>
              <a:t>BEFORE</a:t>
            </a:r>
            <a:endParaRPr lang="en-US" sz="1100" dirty="0"/>
          </a:p>
        </p:txBody>
      </p:sp>
      <p:sp>
        <p:nvSpPr>
          <p:cNvPr id="11" name="Shape 9"/>
          <p:cNvSpPr/>
          <p:nvPr/>
        </p:nvSpPr>
        <p:spPr>
          <a:xfrm>
            <a:off x="6995160" y="242316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2" name="Text 10"/>
          <p:cNvSpPr/>
          <p:nvPr/>
        </p:nvSpPr>
        <p:spPr>
          <a:xfrm>
            <a:off x="6995160" y="24231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3" name="Shape 11"/>
          <p:cNvSpPr/>
          <p:nvPr/>
        </p:nvSpPr>
        <p:spPr>
          <a:xfrm>
            <a:off x="7690104" y="242316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4" name="Text 12"/>
          <p:cNvSpPr/>
          <p:nvPr/>
        </p:nvSpPr>
        <p:spPr>
          <a:xfrm>
            <a:off x="7690104" y="24231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Shape 13"/>
          <p:cNvSpPr/>
          <p:nvPr/>
        </p:nvSpPr>
        <p:spPr>
          <a:xfrm>
            <a:off x="8385048" y="242316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6" name="Text 14"/>
          <p:cNvSpPr/>
          <p:nvPr/>
        </p:nvSpPr>
        <p:spPr>
          <a:xfrm>
            <a:off x="8385048" y="24231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7" name="Shape 15"/>
          <p:cNvSpPr/>
          <p:nvPr/>
        </p:nvSpPr>
        <p:spPr>
          <a:xfrm>
            <a:off x="9079992" y="242316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8" name="Text 16"/>
          <p:cNvSpPr/>
          <p:nvPr/>
        </p:nvSpPr>
        <p:spPr>
          <a:xfrm>
            <a:off x="9079992" y="24231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Shape 17"/>
          <p:cNvSpPr/>
          <p:nvPr/>
        </p:nvSpPr>
        <p:spPr>
          <a:xfrm>
            <a:off x="9774936" y="242316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20" name="Text 18"/>
          <p:cNvSpPr/>
          <p:nvPr/>
        </p:nvSpPr>
        <p:spPr>
          <a:xfrm>
            <a:off x="9774936" y="242316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Shape 19"/>
          <p:cNvSpPr/>
          <p:nvPr/>
        </p:nvSpPr>
        <p:spPr>
          <a:xfrm>
            <a:off x="8897112" y="3291840"/>
            <a:ext cx="402336" cy="457200"/>
          </a:xfrm>
          <a:prstGeom prst="downArrow">
            <a:avLst/>
          </a:prstGeom>
          <a:solidFill>
            <a:srgbClr val="D4AF37"/>
          </a:solidFill>
          <a:ln/>
        </p:spPr>
        <p:txBody>
          <a:bodyPr/>
          <a:lstStyle/>
          <a:p>
            <a:endParaRPr lang="fr-MA"/>
          </a:p>
        </p:txBody>
      </p:sp>
      <p:sp>
        <p:nvSpPr>
          <p:cNvPr id="22" name="Text 20"/>
          <p:cNvSpPr/>
          <p:nvPr/>
        </p:nvSpPr>
        <p:spPr>
          <a:xfrm>
            <a:off x="6995160" y="3977640"/>
            <a:ext cx="1828800" cy="274320"/>
          </a:xfrm>
          <a:prstGeom prst="rect">
            <a:avLst/>
          </a:prstGeom>
          <a:noFill/>
          <a:ln/>
        </p:spPr>
        <p:txBody>
          <a:bodyPr wrap="square" lIns="0" tIns="0" rIns="0" bIns="0" rtlCol="0" anchor="ctr"/>
          <a:lstStyle/>
          <a:p>
            <a:pPr marL="0" indent="0" algn="l">
              <a:buNone/>
            </a:pPr>
            <a:r>
              <a:rPr lang="en-US" sz="1100" b="1" kern="0" spc="200" dirty="0">
                <a:solidFill>
                  <a:srgbClr val="9FB3CF"/>
                </a:solidFill>
                <a:latin typeface="Calibri" pitchFamily="34" charset="0"/>
                <a:ea typeface="Calibri" pitchFamily="34" charset="-122"/>
                <a:cs typeface="Calibri" pitchFamily="34" charset="-120"/>
              </a:rPr>
              <a:t>AFTER</a:t>
            </a:r>
            <a:endParaRPr lang="en-US" sz="1100" dirty="0"/>
          </a:p>
        </p:txBody>
      </p:sp>
      <p:sp>
        <p:nvSpPr>
          <p:cNvPr id="23" name="Shape 21"/>
          <p:cNvSpPr/>
          <p:nvPr/>
        </p:nvSpPr>
        <p:spPr>
          <a:xfrm>
            <a:off x="6995160" y="4297680"/>
            <a:ext cx="566928" cy="566928"/>
          </a:xfrm>
          <a:prstGeom prst="roundRect">
            <a:avLst>
              <a:gd name="adj" fmla="val 12903"/>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4" name="Text 22"/>
          <p:cNvSpPr/>
          <p:nvPr/>
        </p:nvSpPr>
        <p:spPr>
          <a:xfrm>
            <a:off x="6995160" y="4297680"/>
            <a:ext cx="566928" cy="56692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25" name="Shape 23"/>
          <p:cNvSpPr/>
          <p:nvPr/>
        </p:nvSpPr>
        <p:spPr>
          <a:xfrm>
            <a:off x="7690104" y="4297680"/>
            <a:ext cx="566928" cy="566928"/>
          </a:xfrm>
          <a:prstGeom prst="roundRect">
            <a:avLst>
              <a:gd name="adj" fmla="val 12903"/>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6" name="Text 24"/>
          <p:cNvSpPr/>
          <p:nvPr/>
        </p:nvSpPr>
        <p:spPr>
          <a:xfrm>
            <a:off x="7690104" y="4297680"/>
            <a:ext cx="566928" cy="56692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27" name="Shape 25"/>
          <p:cNvSpPr/>
          <p:nvPr/>
        </p:nvSpPr>
        <p:spPr>
          <a:xfrm>
            <a:off x="8385048" y="4297680"/>
            <a:ext cx="566928" cy="566928"/>
          </a:xfrm>
          <a:prstGeom prst="roundRect">
            <a:avLst>
              <a:gd name="adj" fmla="val 12903"/>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8" name="Text 26"/>
          <p:cNvSpPr/>
          <p:nvPr/>
        </p:nvSpPr>
        <p:spPr>
          <a:xfrm>
            <a:off x="8385048" y="4297680"/>
            <a:ext cx="566928" cy="56692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29" name="Shape 27"/>
          <p:cNvSpPr/>
          <p:nvPr/>
        </p:nvSpPr>
        <p:spPr>
          <a:xfrm>
            <a:off x="9079992" y="4297680"/>
            <a:ext cx="566928" cy="566928"/>
          </a:xfrm>
          <a:prstGeom prst="roundRect">
            <a:avLst>
              <a:gd name="adj" fmla="val 12903"/>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0" name="Text 28"/>
          <p:cNvSpPr/>
          <p:nvPr/>
        </p:nvSpPr>
        <p:spPr>
          <a:xfrm>
            <a:off x="9079992" y="4297680"/>
            <a:ext cx="566928" cy="56692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31" name="Shape 29"/>
          <p:cNvSpPr/>
          <p:nvPr/>
        </p:nvSpPr>
        <p:spPr>
          <a:xfrm>
            <a:off x="9774936" y="4297680"/>
            <a:ext cx="566928" cy="566928"/>
          </a:xfrm>
          <a:prstGeom prst="roundRect">
            <a:avLst>
              <a:gd name="adj" fmla="val 12903"/>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2" name="Text 30"/>
          <p:cNvSpPr/>
          <p:nvPr/>
        </p:nvSpPr>
        <p:spPr>
          <a:xfrm>
            <a:off x="9774936" y="4297680"/>
            <a:ext cx="566928" cy="56692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33" name="Text 31"/>
          <p:cNvSpPr/>
          <p:nvPr/>
        </p:nvSpPr>
        <p:spPr>
          <a:xfrm>
            <a:off x="6995160" y="5074920"/>
            <a:ext cx="4206240" cy="548640"/>
          </a:xfrm>
          <a:prstGeom prst="rect">
            <a:avLst/>
          </a:prstGeom>
          <a:noFill/>
          <a:ln/>
        </p:spPr>
        <p:txBody>
          <a:bodyPr wrap="square" lIns="0" tIns="0" rIns="0" bIns="0" rtlCol="0" anchor="t"/>
          <a:lstStyle/>
          <a:p>
            <a:pPr marL="0" indent="0" algn="l">
              <a:buNone/>
            </a:pPr>
            <a:r>
              <a:rPr lang="en-US" sz="1150" i="1" dirty="0">
                <a:solidFill>
                  <a:srgbClr val="E9CE72"/>
                </a:solidFill>
                <a:latin typeface="Calibri" pitchFamily="34" charset="0"/>
                <a:ea typeface="Calibri" pitchFamily="34" charset="-122"/>
                <a:cs typeface="Calibri" pitchFamily="34" charset="-120"/>
              </a:rPr>
              <a:t>Same elements, one rule applied consistently, a new order.</a:t>
            </a:r>
            <a:endParaRPr lang="en-US" sz="11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MOTIVATION</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Why Do We Use Sorting Algorithms?</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03</a:t>
            </a:r>
            <a:endParaRPr lang="en-US" sz="1000" dirty="0"/>
          </a:p>
        </p:txBody>
      </p:sp>
      <p:sp>
        <p:nvSpPr>
          <p:cNvPr id="7" name="Shape 5"/>
          <p:cNvSpPr/>
          <p:nvPr/>
        </p:nvSpPr>
        <p:spPr>
          <a:xfrm>
            <a:off x="640080" y="1874520"/>
            <a:ext cx="822960" cy="822960"/>
          </a:xfrm>
          <a:prstGeom prst="ellipse">
            <a:avLst/>
          </a:prstGeom>
          <a:solidFill>
            <a:srgbClr val="132A4E"/>
          </a:solidFill>
          <a:ln w="22225">
            <a:solidFill>
              <a:srgbClr val="D4AF37"/>
            </a:solidFill>
            <a:prstDash val="solid"/>
          </a:ln>
        </p:spPr>
        <p:txBody>
          <a:bodyPr/>
          <a:lstStyle/>
          <a:p>
            <a:endParaRPr lang="fr-MA"/>
          </a:p>
        </p:txBody>
      </p:sp>
      <p:sp>
        <p:nvSpPr>
          <p:cNvPr id="8" name="Text 6"/>
          <p:cNvSpPr/>
          <p:nvPr/>
        </p:nvSpPr>
        <p:spPr>
          <a:xfrm>
            <a:off x="640080" y="1874520"/>
            <a:ext cx="822960" cy="822960"/>
          </a:xfrm>
          <a:prstGeom prst="rect">
            <a:avLst/>
          </a:prstGeom>
          <a:noFill/>
          <a:ln/>
        </p:spPr>
        <p:txBody>
          <a:bodyPr wrap="square" lIns="0" tIns="0" rIns="0" bIns="0" rtlCol="0" anchor="ctr"/>
          <a:lstStyle/>
          <a:p>
            <a:pPr marL="0" indent="0" algn="ctr">
              <a:buNone/>
            </a:pPr>
            <a:r>
              <a:rPr lang="en-US" sz="2200" b="1" dirty="0">
                <a:solidFill>
                  <a:srgbClr val="D4AF37"/>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645920" y="1874520"/>
            <a:ext cx="4114800" cy="457200"/>
          </a:xfrm>
          <a:prstGeom prst="rect">
            <a:avLst/>
          </a:prstGeom>
          <a:noFill/>
          <a:ln/>
        </p:spPr>
        <p:txBody>
          <a:bodyPr wrap="square" lIns="0" tIns="0" rIns="0" bIns="0" rtlCol="0" anchor="t"/>
          <a:lstStyle/>
          <a:p>
            <a:pPr marL="0" indent="0" algn="l">
              <a:buNone/>
            </a:pPr>
            <a:r>
              <a:rPr lang="en-US" sz="1800" b="1" dirty="0">
                <a:solidFill>
                  <a:srgbClr val="FFFFFF"/>
                </a:solidFill>
                <a:latin typeface="Cambria" pitchFamily="34" charset="0"/>
                <a:ea typeface="Cambria" pitchFamily="34" charset="-122"/>
                <a:cs typeface="Cambria" pitchFamily="34" charset="-120"/>
              </a:rPr>
              <a:t>Faster Searching</a:t>
            </a:r>
            <a:endParaRPr lang="en-US" sz="1800" dirty="0"/>
          </a:p>
        </p:txBody>
      </p:sp>
      <p:sp>
        <p:nvSpPr>
          <p:cNvPr id="10" name="Text 8"/>
          <p:cNvSpPr/>
          <p:nvPr/>
        </p:nvSpPr>
        <p:spPr>
          <a:xfrm>
            <a:off x="1645920" y="2331720"/>
            <a:ext cx="4114800" cy="1005840"/>
          </a:xfrm>
          <a:prstGeom prst="rect">
            <a:avLst/>
          </a:prstGeom>
          <a:noFill/>
          <a:ln/>
        </p:spPr>
        <p:txBody>
          <a:bodyPr wrap="square" lIns="0" tIns="0" rIns="0" bIns="0" rtlCol="0" anchor="t"/>
          <a:lstStyle/>
          <a:p>
            <a:pPr marL="0" indent="0" algn="l">
              <a:lnSpc>
                <a:spcPct val="125000"/>
              </a:lnSpc>
              <a:buNone/>
            </a:pPr>
            <a:r>
              <a:rPr lang="en-US" sz="1300" dirty="0">
                <a:solidFill>
                  <a:srgbClr val="9FB3CF"/>
                </a:solidFill>
                <a:latin typeface="Calibri" pitchFamily="34" charset="0"/>
                <a:ea typeface="Calibri" pitchFamily="34" charset="-122"/>
                <a:cs typeface="Calibri" pitchFamily="34" charset="-120"/>
              </a:rPr>
              <a:t>Sorted data lets us use binary search and similar techniques instead of scanning everything.</a:t>
            </a:r>
            <a:endParaRPr lang="en-US" sz="1300" dirty="0"/>
          </a:p>
        </p:txBody>
      </p:sp>
      <p:sp>
        <p:nvSpPr>
          <p:cNvPr id="11" name="Shape 9"/>
          <p:cNvSpPr/>
          <p:nvPr/>
        </p:nvSpPr>
        <p:spPr>
          <a:xfrm>
            <a:off x="6217920" y="1874520"/>
            <a:ext cx="822960" cy="822960"/>
          </a:xfrm>
          <a:prstGeom prst="ellipse">
            <a:avLst/>
          </a:prstGeom>
          <a:solidFill>
            <a:srgbClr val="132A4E"/>
          </a:solidFill>
          <a:ln w="22225">
            <a:solidFill>
              <a:srgbClr val="D4AF37"/>
            </a:solidFill>
            <a:prstDash val="solid"/>
          </a:ln>
        </p:spPr>
        <p:txBody>
          <a:bodyPr/>
          <a:lstStyle/>
          <a:p>
            <a:endParaRPr lang="fr-MA"/>
          </a:p>
        </p:txBody>
      </p:sp>
      <p:sp>
        <p:nvSpPr>
          <p:cNvPr id="12" name="Text 10"/>
          <p:cNvSpPr/>
          <p:nvPr/>
        </p:nvSpPr>
        <p:spPr>
          <a:xfrm>
            <a:off x="6217920" y="1874520"/>
            <a:ext cx="822960" cy="822960"/>
          </a:xfrm>
          <a:prstGeom prst="rect">
            <a:avLst/>
          </a:prstGeom>
          <a:noFill/>
          <a:ln/>
        </p:spPr>
        <p:txBody>
          <a:bodyPr wrap="square" lIns="0" tIns="0" rIns="0" bIns="0" rtlCol="0" anchor="ctr"/>
          <a:lstStyle/>
          <a:p>
            <a:pPr marL="0" indent="0" algn="ctr">
              <a:buNone/>
            </a:pPr>
            <a:r>
              <a:rPr lang="en-US" sz="2200" b="1" dirty="0">
                <a:solidFill>
                  <a:srgbClr val="D4AF37"/>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7223760" y="1874520"/>
            <a:ext cx="4114800" cy="457200"/>
          </a:xfrm>
          <a:prstGeom prst="rect">
            <a:avLst/>
          </a:prstGeom>
          <a:noFill/>
          <a:ln/>
        </p:spPr>
        <p:txBody>
          <a:bodyPr wrap="square" lIns="0" tIns="0" rIns="0" bIns="0" rtlCol="0" anchor="t"/>
          <a:lstStyle/>
          <a:p>
            <a:pPr marL="0" indent="0" algn="l">
              <a:buNone/>
            </a:pPr>
            <a:r>
              <a:rPr lang="en-US" sz="1800" b="1" dirty="0">
                <a:solidFill>
                  <a:srgbClr val="FFFFFF"/>
                </a:solidFill>
                <a:latin typeface="Cambria" pitchFamily="34" charset="0"/>
                <a:ea typeface="Cambria" pitchFamily="34" charset="-122"/>
                <a:cs typeface="Cambria" pitchFamily="34" charset="-120"/>
              </a:rPr>
              <a:t>Efficient Processing</a:t>
            </a:r>
            <a:endParaRPr lang="en-US" sz="1800" dirty="0"/>
          </a:p>
        </p:txBody>
      </p:sp>
      <p:sp>
        <p:nvSpPr>
          <p:cNvPr id="14" name="Text 12"/>
          <p:cNvSpPr/>
          <p:nvPr/>
        </p:nvSpPr>
        <p:spPr>
          <a:xfrm>
            <a:off x="7223760" y="2331720"/>
            <a:ext cx="4114800" cy="1005840"/>
          </a:xfrm>
          <a:prstGeom prst="rect">
            <a:avLst/>
          </a:prstGeom>
          <a:noFill/>
          <a:ln/>
        </p:spPr>
        <p:txBody>
          <a:bodyPr wrap="square" lIns="0" tIns="0" rIns="0" bIns="0" rtlCol="0" anchor="t"/>
          <a:lstStyle/>
          <a:p>
            <a:pPr marL="0" indent="0" algn="l">
              <a:lnSpc>
                <a:spcPct val="125000"/>
              </a:lnSpc>
              <a:buNone/>
            </a:pPr>
            <a:r>
              <a:rPr lang="en-US" sz="1300" dirty="0">
                <a:solidFill>
                  <a:srgbClr val="9FB3CF"/>
                </a:solidFill>
                <a:latin typeface="Calibri" pitchFamily="34" charset="0"/>
                <a:ea typeface="Calibri" pitchFamily="34" charset="-122"/>
                <a:cs typeface="Calibri" pitchFamily="34" charset="-120"/>
              </a:rPr>
              <a:t>Many algorithms (merging, deduplication, ranking) assume or run best on sorted input.</a:t>
            </a:r>
            <a:endParaRPr lang="en-US" sz="1300" dirty="0"/>
          </a:p>
        </p:txBody>
      </p:sp>
      <p:sp>
        <p:nvSpPr>
          <p:cNvPr id="15" name="Shape 13"/>
          <p:cNvSpPr/>
          <p:nvPr/>
        </p:nvSpPr>
        <p:spPr>
          <a:xfrm>
            <a:off x="640080" y="3840480"/>
            <a:ext cx="822960" cy="822960"/>
          </a:xfrm>
          <a:prstGeom prst="ellipse">
            <a:avLst/>
          </a:prstGeom>
          <a:solidFill>
            <a:srgbClr val="132A4E"/>
          </a:solidFill>
          <a:ln w="22225">
            <a:solidFill>
              <a:srgbClr val="D4AF37"/>
            </a:solidFill>
            <a:prstDash val="solid"/>
          </a:ln>
        </p:spPr>
        <p:txBody>
          <a:bodyPr/>
          <a:lstStyle/>
          <a:p>
            <a:endParaRPr lang="fr-MA"/>
          </a:p>
        </p:txBody>
      </p:sp>
      <p:sp>
        <p:nvSpPr>
          <p:cNvPr id="16" name="Text 14"/>
          <p:cNvSpPr/>
          <p:nvPr/>
        </p:nvSpPr>
        <p:spPr>
          <a:xfrm>
            <a:off x="640080" y="3840480"/>
            <a:ext cx="822960" cy="822960"/>
          </a:xfrm>
          <a:prstGeom prst="rect">
            <a:avLst/>
          </a:prstGeom>
          <a:noFill/>
          <a:ln/>
        </p:spPr>
        <p:txBody>
          <a:bodyPr wrap="square" lIns="0" tIns="0" rIns="0" bIns="0" rtlCol="0" anchor="ctr"/>
          <a:lstStyle/>
          <a:p>
            <a:pPr marL="0" indent="0" algn="ctr">
              <a:buNone/>
            </a:pPr>
            <a:r>
              <a:rPr lang="en-US" sz="2200" b="1" dirty="0">
                <a:solidFill>
                  <a:srgbClr val="D4AF37"/>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1645920" y="3840480"/>
            <a:ext cx="4114800" cy="457200"/>
          </a:xfrm>
          <a:prstGeom prst="rect">
            <a:avLst/>
          </a:prstGeom>
          <a:noFill/>
          <a:ln/>
        </p:spPr>
        <p:txBody>
          <a:bodyPr wrap="square" lIns="0" tIns="0" rIns="0" bIns="0" rtlCol="0" anchor="t"/>
          <a:lstStyle/>
          <a:p>
            <a:pPr marL="0" indent="0" algn="l">
              <a:buNone/>
            </a:pPr>
            <a:r>
              <a:rPr lang="en-US" sz="1800" b="1" dirty="0">
                <a:solidFill>
                  <a:srgbClr val="FFFFFF"/>
                </a:solidFill>
                <a:latin typeface="Cambria" pitchFamily="34" charset="0"/>
                <a:ea typeface="Cambria" pitchFamily="34" charset="-122"/>
                <a:cs typeface="Cambria" pitchFamily="34" charset="-120"/>
              </a:rPr>
              <a:t>Clarity for Users</a:t>
            </a:r>
            <a:endParaRPr lang="en-US" sz="1800" dirty="0"/>
          </a:p>
        </p:txBody>
      </p:sp>
      <p:sp>
        <p:nvSpPr>
          <p:cNvPr id="18" name="Text 16"/>
          <p:cNvSpPr/>
          <p:nvPr/>
        </p:nvSpPr>
        <p:spPr>
          <a:xfrm>
            <a:off x="1645920" y="4297680"/>
            <a:ext cx="4114800" cy="1005840"/>
          </a:xfrm>
          <a:prstGeom prst="rect">
            <a:avLst/>
          </a:prstGeom>
          <a:noFill/>
          <a:ln/>
        </p:spPr>
        <p:txBody>
          <a:bodyPr wrap="square" lIns="0" tIns="0" rIns="0" bIns="0" rtlCol="0" anchor="t"/>
          <a:lstStyle/>
          <a:p>
            <a:pPr marL="0" indent="0" algn="l">
              <a:lnSpc>
                <a:spcPct val="125000"/>
              </a:lnSpc>
              <a:buNone/>
            </a:pPr>
            <a:r>
              <a:rPr lang="en-US" sz="1300" dirty="0">
                <a:solidFill>
                  <a:srgbClr val="9FB3CF"/>
                </a:solidFill>
                <a:latin typeface="Calibri" pitchFamily="34" charset="0"/>
                <a:ea typeface="Calibri" pitchFamily="34" charset="-122"/>
                <a:cs typeface="Calibri" pitchFamily="34" charset="-120"/>
              </a:rPr>
              <a:t>Ordered lists, leaderboards, and search results are easier to read and act on.</a:t>
            </a:r>
            <a:endParaRPr lang="en-US" sz="1300" dirty="0"/>
          </a:p>
        </p:txBody>
      </p:sp>
      <p:sp>
        <p:nvSpPr>
          <p:cNvPr id="19" name="Shape 17"/>
          <p:cNvSpPr/>
          <p:nvPr/>
        </p:nvSpPr>
        <p:spPr>
          <a:xfrm>
            <a:off x="6217920" y="3840480"/>
            <a:ext cx="822960" cy="822960"/>
          </a:xfrm>
          <a:prstGeom prst="ellipse">
            <a:avLst/>
          </a:prstGeom>
          <a:solidFill>
            <a:srgbClr val="132A4E"/>
          </a:solidFill>
          <a:ln w="22225">
            <a:solidFill>
              <a:srgbClr val="D4AF37"/>
            </a:solidFill>
            <a:prstDash val="solid"/>
          </a:ln>
        </p:spPr>
        <p:txBody>
          <a:bodyPr/>
          <a:lstStyle/>
          <a:p>
            <a:endParaRPr lang="fr-MA"/>
          </a:p>
        </p:txBody>
      </p:sp>
      <p:sp>
        <p:nvSpPr>
          <p:cNvPr id="20" name="Text 18"/>
          <p:cNvSpPr/>
          <p:nvPr/>
        </p:nvSpPr>
        <p:spPr>
          <a:xfrm>
            <a:off x="6217920" y="3840480"/>
            <a:ext cx="822960" cy="822960"/>
          </a:xfrm>
          <a:prstGeom prst="rect">
            <a:avLst/>
          </a:prstGeom>
          <a:noFill/>
          <a:ln/>
        </p:spPr>
        <p:txBody>
          <a:bodyPr wrap="square" lIns="0" tIns="0" rIns="0" bIns="0" rtlCol="0" anchor="ctr"/>
          <a:lstStyle/>
          <a:p>
            <a:pPr marL="0" indent="0" algn="ctr">
              <a:buNone/>
            </a:pPr>
            <a:r>
              <a:rPr lang="en-US" sz="2200" b="1" dirty="0">
                <a:solidFill>
                  <a:srgbClr val="D4AF37"/>
                </a:solidFill>
                <a:latin typeface="Cambria" pitchFamily="34" charset="0"/>
                <a:ea typeface="Cambria" pitchFamily="34" charset="-122"/>
                <a:cs typeface="Cambria" pitchFamily="34" charset="-120"/>
              </a:rPr>
              <a:t>4</a:t>
            </a:r>
            <a:endParaRPr lang="en-US" sz="2200" dirty="0"/>
          </a:p>
        </p:txBody>
      </p:sp>
      <p:sp>
        <p:nvSpPr>
          <p:cNvPr id="21" name="Text 19"/>
          <p:cNvSpPr/>
          <p:nvPr/>
        </p:nvSpPr>
        <p:spPr>
          <a:xfrm>
            <a:off x="7223760" y="3840480"/>
            <a:ext cx="4114800" cy="457200"/>
          </a:xfrm>
          <a:prstGeom prst="rect">
            <a:avLst/>
          </a:prstGeom>
          <a:noFill/>
          <a:ln/>
        </p:spPr>
        <p:txBody>
          <a:bodyPr wrap="square" lIns="0" tIns="0" rIns="0" bIns="0" rtlCol="0" anchor="t"/>
          <a:lstStyle/>
          <a:p>
            <a:pPr marL="0" indent="0" algn="l">
              <a:buNone/>
            </a:pPr>
            <a:r>
              <a:rPr lang="en-US" sz="1800" b="1" dirty="0">
                <a:solidFill>
                  <a:srgbClr val="FFFFFF"/>
                </a:solidFill>
                <a:latin typeface="Cambria" pitchFamily="34" charset="0"/>
                <a:ea typeface="Cambria" pitchFamily="34" charset="-122"/>
                <a:cs typeface="Cambria" pitchFamily="34" charset="-120"/>
              </a:rPr>
              <a:t>A Learning Foundation</a:t>
            </a:r>
            <a:endParaRPr lang="en-US" sz="1800" dirty="0"/>
          </a:p>
        </p:txBody>
      </p:sp>
      <p:sp>
        <p:nvSpPr>
          <p:cNvPr id="22" name="Text 20"/>
          <p:cNvSpPr/>
          <p:nvPr/>
        </p:nvSpPr>
        <p:spPr>
          <a:xfrm>
            <a:off x="7223760" y="4297680"/>
            <a:ext cx="4114800" cy="1005840"/>
          </a:xfrm>
          <a:prstGeom prst="rect">
            <a:avLst/>
          </a:prstGeom>
          <a:noFill/>
          <a:ln/>
        </p:spPr>
        <p:txBody>
          <a:bodyPr wrap="square" lIns="0" tIns="0" rIns="0" bIns="0" rtlCol="0" anchor="t"/>
          <a:lstStyle/>
          <a:p>
            <a:pPr marL="0" indent="0" algn="l">
              <a:lnSpc>
                <a:spcPct val="125000"/>
              </a:lnSpc>
              <a:buNone/>
            </a:pPr>
            <a:r>
              <a:rPr lang="en-US" sz="1300" dirty="0">
                <a:solidFill>
                  <a:srgbClr val="9FB3CF"/>
                </a:solidFill>
                <a:latin typeface="Calibri" pitchFamily="34" charset="0"/>
                <a:ea typeface="Calibri" pitchFamily="34" charset="-122"/>
                <a:cs typeface="Calibri" pitchFamily="34" charset="-120"/>
              </a:rPr>
              <a:t>Sorting teaches core ideas — comparisons, loops, complexity — used across computer science.</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01</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Bubble Sort — Definition</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7" name="Text 5"/>
          <p:cNvSpPr/>
          <p:nvPr/>
        </p:nvSpPr>
        <p:spPr>
          <a:xfrm>
            <a:off x="640080" y="1828800"/>
            <a:ext cx="6309360" cy="1737360"/>
          </a:xfrm>
          <a:prstGeom prst="rect">
            <a:avLst/>
          </a:prstGeom>
          <a:noFill/>
          <a:ln/>
        </p:spPr>
        <p:txBody>
          <a:bodyPr wrap="square" lIns="0" tIns="0" rIns="0" bIns="0" rtlCol="0" anchor="t"/>
          <a:lstStyle/>
          <a:p>
            <a:pPr marL="0" indent="0" algn="l">
              <a:lnSpc>
                <a:spcPct val="128000"/>
              </a:lnSpc>
              <a:buNone/>
            </a:pPr>
            <a:r>
              <a:rPr lang="en-US" sz="1650" dirty="0">
                <a:solidFill>
                  <a:srgbClr val="FFFFFF"/>
                </a:solidFill>
                <a:latin typeface="Calibri" pitchFamily="34" charset="0"/>
                <a:ea typeface="Calibri" pitchFamily="34" charset="-122"/>
                <a:cs typeface="Calibri" pitchFamily="34" charset="-120"/>
              </a:rPr>
              <a:t>Bubble Sort repeatedly steps through the list, compares each pair of adjacent elements, and swaps them if they are in the wrong order. Larger values “bubble” toward the end with every pass.</a:t>
            </a:r>
            <a:endParaRPr lang="en-US" sz="1650" dirty="0"/>
          </a:p>
        </p:txBody>
      </p:sp>
      <p:grpSp>
        <p:nvGrpSpPr>
          <p:cNvPr id="44" name="Groupe 43">
            <a:extLst>
              <a:ext uri="{FF2B5EF4-FFF2-40B4-BE49-F238E27FC236}">
                <a16:creationId xmlns:a16="http://schemas.microsoft.com/office/drawing/2014/main" id="{563AE3C3-C505-E358-2A92-E9A7F6BA348A}"/>
              </a:ext>
            </a:extLst>
          </p:cNvPr>
          <p:cNvGrpSpPr/>
          <p:nvPr/>
        </p:nvGrpSpPr>
        <p:grpSpPr>
          <a:xfrm>
            <a:off x="640080" y="3206219"/>
            <a:ext cx="6263640" cy="2587752"/>
            <a:chOff x="640080" y="3657600"/>
            <a:chExt cx="6263640" cy="2587752"/>
          </a:xfrm>
        </p:grpSpPr>
        <p:sp>
          <p:nvSpPr>
            <p:cNvPr id="8" name="Text 6"/>
            <p:cNvSpPr/>
            <p:nvPr/>
          </p:nvSpPr>
          <p:spPr>
            <a:xfrm>
              <a:off x="640080" y="3657600"/>
              <a:ext cx="4572000" cy="274320"/>
            </a:xfrm>
            <a:prstGeom prst="rect">
              <a:avLst/>
            </a:prstGeom>
            <a:noFill/>
            <a:ln/>
          </p:spPr>
          <p:txBody>
            <a:bodyPr wrap="square" lIns="0" tIns="0" rIns="0" bIns="0" rtlCol="0" anchor="ctr"/>
            <a:lstStyle/>
            <a:p>
              <a:pPr marL="0" indent="0" algn="l">
                <a:buNone/>
              </a:pPr>
              <a:r>
                <a:rPr lang="en-US" sz="1150" b="1" kern="0" spc="200" dirty="0">
                  <a:solidFill>
                    <a:srgbClr val="D4AF37"/>
                  </a:solidFill>
                  <a:latin typeface="Calibri" pitchFamily="34" charset="0"/>
                  <a:ea typeface="Calibri" pitchFamily="34" charset="-122"/>
                  <a:cs typeface="Calibri" pitchFamily="34" charset="-120"/>
                </a:rPr>
                <a:t>HOW IT WORKS</a:t>
              </a:r>
              <a:endParaRPr lang="en-US" sz="1150" dirty="0"/>
            </a:p>
          </p:txBody>
        </p:sp>
        <p:grpSp>
          <p:nvGrpSpPr>
            <p:cNvPr id="40" name="Groupe 39">
              <a:extLst>
                <a:ext uri="{FF2B5EF4-FFF2-40B4-BE49-F238E27FC236}">
                  <a16:creationId xmlns:a16="http://schemas.microsoft.com/office/drawing/2014/main" id="{47AACA5B-949A-C09A-C999-F6AC86C203CB}"/>
                </a:ext>
              </a:extLst>
            </p:cNvPr>
            <p:cNvGrpSpPr/>
            <p:nvPr/>
          </p:nvGrpSpPr>
          <p:grpSpPr>
            <a:xfrm>
              <a:off x="676656" y="3986784"/>
              <a:ext cx="384048" cy="384048"/>
              <a:chOff x="676656" y="3986784"/>
              <a:chExt cx="384048" cy="384048"/>
            </a:xfrm>
          </p:grpSpPr>
          <p:sp>
            <p:nvSpPr>
              <p:cNvPr id="9" name="Shape 7"/>
              <p:cNvSpPr/>
              <p:nvPr/>
            </p:nvSpPr>
            <p:spPr>
              <a:xfrm>
                <a:off x="676656" y="3986784"/>
                <a:ext cx="384048" cy="384048"/>
              </a:xfrm>
              <a:prstGeom prst="ellipse">
                <a:avLst/>
              </a:prstGeom>
              <a:solidFill>
                <a:srgbClr val="132A4E"/>
              </a:solidFill>
              <a:ln w="22225">
                <a:solidFill>
                  <a:srgbClr val="D4AF37"/>
                </a:solidFill>
                <a:prstDash val="solid"/>
              </a:ln>
            </p:spPr>
            <p:txBody>
              <a:bodyPr/>
              <a:lstStyle/>
              <a:p>
                <a:endParaRPr lang="fr-MA"/>
              </a:p>
            </p:txBody>
          </p:sp>
          <p:sp>
            <p:nvSpPr>
              <p:cNvPr id="10" name="Text 8"/>
              <p:cNvSpPr/>
              <p:nvPr/>
            </p:nvSpPr>
            <p:spPr>
              <a:xfrm>
                <a:off x="676656" y="3986784"/>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1</a:t>
                </a:r>
                <a:endParaRPr lang="en-US" sz="1300" dirty="0"/>
              </a:p>
            </p:txBody>
          </p:sp>
        </p:grpSp>
        <p:sp>
          <p:nvSpPr>
            <p:cNvPr id="11" name="Text 9"/>
            <p:cNvSpPr/>
            <p:nvPr/>
          </p:nvSpPr>
          <p:spPr>
            <a:xfrm>
              <a:off x="1234440" y="3977640"/>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Compare each pair of neighboring elements, left to right.</a:t>
              </a:r>
              <a:endParaRPr lang="en-US" sz="1250" dirty="0"/>
            </a:p>
          </p:txBody>
        </p:sp>
        <p:grpSp>
          <p:nvGrpSpPr>
            <p:cNvPr id="41" name="Groupe 40">
              <a:extLst>
                <a:ext uri="{FF2B5EF4-FFF2-40B4-BE49-F238E27FC236}">
                  <a16:creationId xmlns:a16="http://schemas.microsoft.com/office/drawing/2014/main" id="{97E814FB-8D8C-2908-5204-C11098DAA788}"/>
                </a:ext>
              </a:extLst>
            </p:cNvPr>
            <p:cNvGrpSpPr/>
            <p:nvPr/>
          </p:nvGrpSpPr>
          <p:grpSpPr>
            <a:xfrm>
              <a:off x="676656" y="4553712"/>
              <a:ext cx="384048" cy="384048"/>
              <a:chOff x="676656" y="4553712"/>
              <a:chExt cx="384048" cy="384048"/>
            </a:xfrm>
          </p:grpSpPr>
          <p:sp>
            <p:nvSpPr>
              <p:cNvPr id="12" name="Shape 10"/>
              <p:cNvSpPr/>
              <p:nvPr/>
            </p:nvSpPr>
            <p:spPr>
              <a:xfrm>
                <a:off x="676656" y="4553712"/>
                <a:ext cx="384048" cy="384048"/>
              </a:xfrm>
              <a:prstGeom prst="ellipse">
                <a:avLst/>
              </a:prstGeom>
              <a:solidFill>
                <a:srgbClr val="132A4E"/>
              </a:solidFill>
              <a:ln w="22225">
                <a:solidFill>
                  <a:srgbClr val="D4AF37"/>
                </a:solidFill>
                <a:prstDash val="solid"/>
              </a:ln>
            </p:spPr>
            <p:txBody>
              <a:bodyPr/>
              <a:lstStyle/>
              <a:p>
                <a:endParaRPr lang="fr-MA"/>
              </a:p>
            </p:txBody>
          </p:sp>
          <p:sp>
            <p:nvSpPr>
              <p:cNvPr id="13" name="Text 11"/>
              <p:cNvSpPr/>
              <p:nvPr/>
            </p:nvSpPr>
            <p:spPr>
              <a:xfrm>
                <a:off x="676656" y="4553712"/>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2</a:t>
                </a:r>
                <a:endParaRPr lang="en-US" sz="1300" dirty="0"/>
              </a:p>
            </p:txBody>
          </p:sp>
        </p:grpSp>
        <p:sp>
          <p:nvSpPr>
            <p:cNvPr id="14" name="Text 12"/>
            <p:cNvSpPr/>
            <p:nvPr/>
          </p:nvSpPr>
          <p:spPr>
            <a:xfrm>
              <a:off x="1234440" y="4544568"/>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Swap them if the left one is bigger than the right one.</a:t>
              </a:r>
              <a:endParaRPr lang="en-US" sz="1250" dirty="0"/>
            </a:p>
          </p:txBody>
        </p:sp>
        <p:grpSp>
          <p:nvGrpSpPr>
            <p:cNvPr id="42" name="Groupe 41">
              <a:extLst>
                <a:ext uri="{FF2B5EF4-FFF2-40B4-BE49-F238E27FC236}">
                  <a16:creationId xmlns:a16="http://schemas.microsoft.com/office/drawing/2014/main" id="{5B6CA0CD-3F37-BBDC-0DC0-CF202CB8B14E}"/>
                </a:ext>
              </a:extLst>
            </p:cNvPr>
            <p:cNvGrpSpPr/>
            <p:nvPr/>
          </p:nvGrpSpPr>
          <p:grpSpPr>
            <a:xfrm>
              <a:off x="676656" y="5120640"/>
              <a:ext cx="384048" cy="384048"/>
              <a:chOff x="676656" y="5120640"/>
              <a:chExt cx="384048" cy="384048"/>
            </a:xfrm>
          </p:grpSpPr>
          <p:sp>
            <p:nvSpPr>
              <p:cNvPr id="15" name="Shape 13"/>
              <p:cNvSpPr/>
              <p:nvPr/>
            </p:nvSpPr>
            <p:spPr>
              <a:xfrm>
                <a:off x="676656" y="5120640"/>
                <a:ext cx="384048" cy="384048"/>
              </a:xfrm>
              <a:prstGeom prst="ellipse">
                <a:avLst/>
              </a:prstGeom>
              <a:solidFill>
                <a:srgbClr val="132A4E"/>
              </a:solidFill>
              <a:ln w="22225">
                <a:solidFill>
                  <a:srgbClr val="D4AF37"/>
                </a:solidFill>
                <a:prstDash val="solid"/>
              </a:ln>
            </p:spPr>
            <p:txBody>
              <a:bodyPr/>
              <a:lstStyle/>
              <a:p>
                <a:endParaRPr lang="fr-MA"/>
              </a:p>
            </p:txBody>
          </p:sp>
          <p:sp>
            <p:nvSpPr>
              <p:cNvPr id="16" name="Text 14"/>
              <p:cNvSpPr/>
              <p:nvPr/>
            </p:nvSpPr>
            <p:spPr>
              <a:xfrm>
                <a:off x="676656" y="5120640"/>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3</a:t>
                </a:r>
                <a:endParaRPr lang="en-US" sz="1300" dirty="0"/>
              </a:p>
            </p:txBody>
          </p:sp>
        </p:grpSp>
        <p:sp>
          <p:nvSpPr>
            <p:cNvPr id="17" name="Text 15"/>
            <p:cNvSpPr/>
            <p:nvPr/>
          </p:nvSpPr>
          <p:spPr>
            <a:xfrm>
              <a:off x="1234440" y="5111496"/>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Reach the end of the list — the largest value is now in place.</a:t>
              </a:r>
              <a:endParaRPr lang="en-US" sz="1250" dirty="0"/>
            </a:p>
          </p:txBody>
        </p:sp>
        <p:grpSp>
          <p:nvGrpSpPr>
            <p:cNvPr id="43" name="Groupe 42">
              <a:extLst>
                <a:ext uri="{FF2B5EF4-FFF2-40B4-BE49-F238E27FC236}">
                  <a16:creationId xmlns:a16="http://schemas.microsoft.com/office/drawing/2014/main" id="{34254C4D-2CDA-71CD-326F-208457D26E98}"/>
                </a:ext>
              </a:extLst>
            </p:cNvPr>
            <p:cNvGrpSpPr/>
            <p:nvPr/>
          </p:nvGrpSpPr>
          <p:grpSpPr>
            <a:xfrm>
              <a:off x="676656" y="5687568"/>
              <a:ext cx="384048" cy="384048"/>
              <a:chOff x="676656" y="5687568"/>
              <a:chExt cx="384048" cy="384048"/>
            </a:xfrm>
          </p:grpSpPr>
          <p:sp>
            <p:nvSpPr>
              <p:cNvPr id="18" name="Shape 16"/>
              <p:cNvSpPr/>
              <p:nvPr/>
            </p:nvSpPr>
            <p:spPr>
              <a:xfrm>
                <a:off x="676656" y="5687568"/>
                <a:ext cx="384048" cy="384048"/>
              </a:xfrm>
              <a:prstGeom prst="ellipse">
                <a:avLst/>
              </a:prstGeom>
              <a:solidFill>
                <a:srgbClr val="132A4E"/>
              </a:solidFill>
              <a:ln w="22225">
                <a:solidFill>
                  <a:srgbClr val="D4AF37"/>
                </a:solidFill>
                <a:prstDash val="solid"/>
              </a:ln>
            </p:spPr>
            <p:txBody>
              <a:bodyPr/>
              <a:lstStyle/>
              <a:p>
                <a:endParaRPr lang="fr-MA"/>
              </a:p>
            </p:txBody>
          </p:sp>
          <p:sp>
            <p:nvSpPr>
              <p:cNvPr id="19" name="Text 17"/>
              <p:cNvSpPr/>
              <p:nvPr/>
            </p:nvSpPr>
            <p:spPr>
              <a:xfrm>
                <a:off x="676656" y="5687568"/>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4</a:t>
                </a:r>
                <a:endParaRPr lang="en-US" sz="1300" dirty="0"/>
              </a:p>
            </p:txBody>
          </p:sp>
        </p:grpSp>
        <p:sp>
          <p:nvSpPr>
            <p:cNvPr id="20" name="Text 18"/>
            <p:cNvSpPr/>
            <p:nvPr/>
          </p:nvSpPr>
          <p:spPr>
            <a:xfrm>
              <a:off x="1234440" y="5678424"/>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Repeat for the remaining unsorted portion until no swaps are needed.</a:t>
              </a:r>
              <a:endParaRPr lang="en-US" sz="1250" dirty="0"/>
            </a:p>
          </p:txBody>
        </p:sp>
      </p:grpSp>
      <p:sp>
        <p:nvSpPr>
          <p:cNvPr id="45" name="Rectangle 44">
            <a:extLst>
              <a:ext uri="{FF2B5EF4-FFF2-40B4-BE49-F238E27FC236}">
                <a16:creationId xmlns:a16="http://schemas.microsoft.com/office/drawing/2014/main" id="{65953743-7FCF-6578-B33A-EC9070DC8037}"/>
              </a:ext>
            </a:extLst>
          </p:cNvPr>
          <p:cNvSpPr/>
          <p:nvPr/>
        </p:nvSpPr>
        <p:spPr>
          <a:xfrm>
            <a:off x="6949440" y="0"/>
            <a:ext cx="5242560" cy="68580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04</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01 — IN ACTION</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Visualizing Bubble Sort</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05</a:t>
            </a:r>
            <a:endParaRPr lang="en-US" sz="1000" dirty="0"/>
          </a:p>
        </p:txBody>
      </p:sp>
      <p:grpSp>
        <p:nvGrpSpPr>
          <p:cNvPr id="69" name="Groupe 68">
            <a:extLst>
              <a:ext uri="{FF2B5EF4-FFF2-40B4-BE49-F238E27FC236}">
                <a16:creationId xmlns:a16="http://schemas.microsoft.com/office/drawing/2014/main" id="{5EDDE7D6-9EF2-AC96-7B82-2A666927F008}"/>
              </a:ext>
            </a:extLst>
          </p:cNvPr>
          <p:cNvGrpSpPr/>
          <p:nvPr/>
        </p:nvGrpSpPr>
        <p:grpSpPr>
          <a:xfrm>
            <a:off x="1676400" y="1645920"/>
            <a:ext cx="8318269" cy="4315968"/>
            <a:chOff x="640080" y="1783080"/>
            <a:chExt cx="5980176" cy="4315968"/>
          </a:xfrm>
        </p:grpSpPr>
        <p:sp>
          <p:nvSpPr>
            <p:cNvPr id="7" name="Text 5"/>
            <p:cNvSpPr/>
            <p:nvPr/>
          </p:nvSpPr>
          <p:spPr>
            <a:xfrm>
              <a:off x="640080" y="17830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Start</a:t>
              </a:r>
              <a:endParaRPr lang="en-US" sz="1500" dirty="0"/>
            </a:p>
          </p:txBody>
        </p:sp>
        <p:sp>
          <p:nvSpPr>
            <p:cNvPr id="8" name="Text 6"/>
            <p:cNvSpPr/>
            <p:nvPr/>
          </p:nvSpPr>
          <p:spPr>
            <a:xfrm>
              <a:off x="640080" y="21451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unsorted array</a:t>
              </a:r>
              <a:endParaRPr lang="en-US" sz="1050" dirty="0"/>
            </a:p>
          </p:txBody>
        </p:sp>
        <p:sp>
          <p:nvSpPr>
            <p:cNvPr id="9" name="Shape 7"/>
            <p:cNvSpPr/>
            <p:nvPr/>
          </p:nvSpPr>
          <p:spPr>
            <a:xfrm>
              <a:off x="2743200"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0" name="Text 8"/>
            <p:cNvSpPr/>
            <p:nvPr/>
          </p:nvSpPr>
          <p:spPr>
            <a:xfrm>
              <a:off x="2743200"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1" name="Shape 9"/>
            <p:cNvSpPr/>
            <p:nvPr/>
          </p:nvSpPr>
          <p:spPr>
            <a:xfrm>
              <a:off x="3547872"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2" name="Text 10"/>
            <p:cNvSpPr/>
            <p:nvPr/>
          </p:nvSpPr>
          <p:spPr>
            <a:xfrm>
              <a:off x="3547872"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Shape 11"/>
            <p:cNvSpPr/>
            <p:nvPr/>
          </p:nvSpPr>
          <p:spPr>
            <a:xfrm>
              <a:off x="4352544"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4" name="Text 12"/>
            <p:cNvSpPr/>
            <p:nvPr/>
          </p:nvSpPr>
          <p:spPr>
            <a:xfrm>
              <a:off x="4352544"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5" name="Shape 13"/>
            <p:cNvSpPr/>
            <p:nvPr/>
          </p:nvSpPr>
          <p:spPr>
            <a:xfrm>
              <a:off x="5157216"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6" name="Text 14"/>
            <p:cNvSpPr/>
            <p:nvPr/>
          </p:nvSpPr>
          <p:spPr>
            <a:xfrm>
              <a:off x="5157216"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hape 15"/>
            <p:cNvSpPr/>
            <p:nvPr/>
          </p:nvSpPr>
          <p:spPr>
            <a:xfrm>
              <a:off x="5961888"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8" name="Text 16"/>
            <p:cNvSpPr/>
            <p:nvPr/>
          </p:nvSpPr>
          <p:spPr>
            <a:xfrm>
              <a:off x="5961888"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640080" y="26974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Pass 1</a:t>
              </a:r>
              <a:endParaRPr lang="en-US" sz="1500" dirty="0"/>
            </a:p>
          </p:txBody>
        </p:sp>
        <p:sp>
          <p:nvSpPr>
            <p:cNvPr id="20" name="Text 18"/>
            <p:cNvSpPr/>
            <p:nvPr/>
          </p:nvSpPr>
          <p:spPr>
            <a:xfrm>
              <a:off x="640080" y="30595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largest bubbles up</a:t>
              </a:r>
              <a:endParaRPr lang="en-US" sz="1050" dirty="0"/>
            </a:p>
          </p:txBody>
        </p:sp>
        <p:sp>
          <p:nvSpPr>
            <p:cNvPr id="21" name="Shape 19"/>
            <p:cNvSpPr/>
            <p:nvPr/>
          </p:nvSpPr>
          <p:spPr>
            <a:xfrm>
              <a:off x="2743200"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2" name="Text 20"/>
            <p:cNvSpPr/>
            <p:nvPr/>
          </p:nvSpPr>
          <p:spPr>
            <a:xfrm>
              <a:off x="2743200"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3" name="Shape 21"/>
            <p:cNvSpPr/>
            <p:nvPr/>
          </p:nvSpPr>
          <p:spPr>
            <a:xfrm>
              <a:off x="3547872"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4" name="Text 22"/>
            <p:cNvSpPr/>
            <p:nvPr/>
          </p:nvSpPr>
          <p:spPr>
            <a:xfrm>
              <a:off x="3547872"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Shape 23"/>
            <p:cNvSpPr/>
            <p:nvPr/>
          </p:nvSpPr>
          <p:spPr>
            <a:xfrm>
              <a:off x="4352544"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6" name="Text 24"/>
            <p:cNvSpPr/>
            <p:nvPr/>
          </p:nvSpPr>
          <p:spPr>
            <a:xfrm>
              <a:off x="4352544"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hape 25"/>
            <p:cNvSpPr/>
            <p:nvPr/>
          </p:nvSpPr>
          <p:spPr>
            <a:xfrm>
              <a:off x="5157216"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8" name="Text 26"/>
            <p:cNvSpPr/>
            <p:nvPr/>
          </p:nvSpPr>
          <p:spPr>
            <a:xfrm>
              <a:off x="5157216"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9" name="Shape 27"/>
            <p:cNvSpPr/>
            <p:nvPr/>
          </p:nvSpPr>
          <p:spPr>
            <a:xfrm>
              <a:off x="5961888" y="26974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0" name="Text 28"/>
            <p:cNvSpPr/>
            <p:nvPr/>
          </p:nvSpPr>
          <p:spPr>
            <a:xfrm>
              <a:off x="5961888" y="26974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31" name="Text 29"/>
            <p:cNvSpPr/>
            <p:nvPr/>
          </p:nvSpPr>
          <p:spPr>
            <a:xfrm>
              <a:off x="640080" y="36118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Pass 2</a:t>
              </a:r>
              <a:endParaRPr lang="en-US" sz="1500" dirty="0"/>
            </a:p>
          </p:txBody>
        </p:sp>
        <p:sp>
          <p:nvSpPr>
            <p:cNvPr id="32" name="Shape 30"/>
            <p:cNvSpPr/>
            <p:nvPr/>
          </p:nvSpPr>
          <p:spPr>
            <a:xfrm>
              <a:off x="2743200"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3" name="Text 31"/>
            <p:cNvSpPr/>
            <p:nvPr/>
          </p:nvSpPr>
          <p:spPr>
            <a:xfrm>
              <a:off x="2743200"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34" name="Shape 32"/>
            <p:cNvSpPr/>
            <p:nvPr/>
          </p:nvSpPr>
          <p:spPr>
            <a:xfrm>
              <a:off x="3547872"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5" name="Text 33"/>
            <p:cNvSpPr/>
            <p:nvPr/>
          </p:nvSpPr>
          <p:spPr>
            <a:xfrm>
              <a:off x="3547872"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6" name="Shape 34"/>
            <p:cNvSpPr/>
            <p:nvPr/>
          </p:nvSpPr>
          <p:spPr>
            <a:xfrm>
              <a:off x="4352544"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7" name="Text 35"/>
            <p:cNvSpPr/>
            <p:nvPr/>
          </p:nvSpPr>
          <p:spPr>
            <a:xfrm>
              <a:off x="4352544"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38" name="Shape 36"/>
            <p:cNvSpPr/>
            <p:nvPr/>
          </p:nvSpPr>
          <p:spPr>
            <a:xfrm>
              <a:off x="5157216"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9" name="Text 37"/>
            <p:cNvSpPr/>
            <p:nvPr/>
          </p:nvSpPr>
          <p:spPr>
            <a:xfrm>
              <a:off x="5157216"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40" name="Shape 38"/>
            <p:cNvSpPr/>
            <p:nvPr/>
          </p:nvSpPr>
          <p:spPr>
            <a:xfrm>
              <a:off x="5961888"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1" name="Text 39"/>
            <p:cNvSpPr/>
            <p:nvPr/>
          </p:nvSpPr>
          <p:spPr>
            <a:xfrm>
              <a:off x="5961888"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42" name="Text 40"/>
            <p:cNvSpPr/>
            <p:nvPr/>
          </p:nvSpPr>
          <p:spPr>
            <a:xfrm>
              <a:off x="640080" y="45262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Pass 3</a:t>
              </a:r>
              <a:endParaRPr lang="en-US" sz="1500" dirty="0"/>
            </a:p>
          </p:txBody>
        </p:sp>
        <p:sp>
          <p:nvSpPr>
            <p:cNvPr id="43" name="Shape 41"/>
            <p:cNvSpPr/>
            <p:nvPr/>
          </p:nvSpPr>
          <p:spPr>
            <a:xfrm>
              <a:off x="2743200" y="45262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44" name="Text 42"/>
            <p:cNvSpPr/>
            <p:nvPr/>
          </p:nvSpPr>
          <p:spPr>
            <a:xfrm>
              <a:off x="2743200" y="45262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5" name="Shape 43"/>
            <p:cNvSpPr/>
            <p:nvPr/>
          </p:nvSpPr>
          <p:spPr>
            <a:xfrm>
              <a:off x="3547872" y="45262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46" name="Text 44"/>
            <p:cNvSpPr/>
            <p:nvPr/>
          </p:nvSpPr>
          <p:spPr>
            <a:xfrm>
              <a:off x="3547872" y="45262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7" name="Shape 45"/>
            <p:cNvSpPr/>
            <p:nvPr/>
          </p:nvSpPr>
          <p:spPr>
            <a:xfrm>
              <a:off x="4352544"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8" name="Text 46"/>
            <p:cNvSpPr/>
            <p:nvPr/>
          </p:nvSpPr>
          <p:spPr>
            <a:xfrm>
              <a:off x="4352544"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49" name="Shape 47"/>
            <p:cNvSpPr/>
            <p:nvPr/>
          </p:nvSpPr>
          <p:spPr>
            <a:xfrm>
              <a:off x="5157216"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0" name="Text 48"/>
            <p:cNvSpPr/>
            <p:nvPr/>
          </p:nvSpPr>
          <p:spPr>
            <a:xfrm>
              <a:off x="5157216"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51" name="Shape 49"/>
            <p:cNvSpPr/>
            <p:nvPr/>
          </p:nvSpPr>
          <p:spPr>
            <a:xfrm>
              <a:off x="5961888"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2" name="Text 50"/>
            <p:cNvSpPr/>
            <p:nvPr/>
          </p:nvSpPr>
          <p:spPr>
            <a:xfrm>
              <a:off x="5961888"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53" name="Text 51"/>
            <p:cNvSpPr/>
            <p:nvPr/>
          </p:nvSpPr>
          <p:spPr>
            <a:xfrm>
              <a:off x="640080" y="54406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Final</a:t>
              </a:r>
              <a:endParaRPr lang="en-US" sz="1500" dirty="0"/>
            </a:p>
          </p:txBody>
        </p:sp>
        <p:sp>
          <p:nvSpPr>
            <p:cNvPr id="54" name="Text 52"/>
            <p:cNvSpPr/>
            <p:nvPr/>
          </p:nvSpPr>
          <p:spPr>
            <a:xfrm>
              <a:off x="640080" y="58027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fully sorted</a:t>
              </a:r>
              <a:endParaRPr lang="en-US" sz="1050" dirty="0"/>
            </a:p>
          </p:txBody>
        </p:sp>
        <p:sp>
          <p:nvSpPr>
            <p:cNvPr id="55" name="Shape 53"/>
            <p:cNvSpPr/>
            <p:nvPr/>
          </p:nvSpPr>
          <p:spPr>
            <a:xfrm>
              <a:off x="2743200"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6" name="Text 54"/>
            <p:cNvSpPr/>
            <p:nvPr/>
          </p:nvSpPr>
          <p:spPr>
            <a:xfrm>
              <a:off x="2743200"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57" name="Shape 55"/>
            <p:cNvSpPr/>
            <p:nvPr/>
          </p:nvSpPr>
          <p:spPr>
            <a:xfrm>
              <a:off x="3547872"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8" name="Text 56"/>
            <p:cNvSpPr/>
            <p:nvPr/>
          </p:nvSpPr>
          <p:spPr>
            <a:xfrm>
              <a:off x="3547872"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59" name="Shape 57"/>
            <p:cNvSpPr/>
            <p:nvPr/>
          </p:nvSpPr>
          <p:spPr>
            <a:xfrm>
              <a:off x="4352544"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0" name="Text 58"/>
            <p:cNvSpPr/>
            <p:nvPr/>
          </p:nvSpPr>
          <p:spPr>
            <a:xfrm>
              <a:off x="4352544"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61" name="Shape 59"/>
            <p:cNvSpPr/>
            <p:nvPr/>
          </p:nvSpPr>
          <p:spPr>
            <a:xfrm>
              <a:off x="5157216"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2" name="Text 60"/>
            <p:cNvSpPr/>
            <p:nvPr/>
          </p:nvSpPr>
          <p:spPr>
            <a:xfrm>
              <a:off x="5157216"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63" name="Shape 61"/>
            <p:cNvSpPr/>
            <p:nvPr/>
          </p:nvSpPr>
          <p:spPr>
            <a:xfrm>
              <a:off x="5961888"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4" name="Text 62"/>
            <p:cNvSpPr/>
            <p:nvPr/>
          </p:nvSpPr>
          <p:spPr>
            <a:xfrm>
              <a:off x="5961888"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grpSp>
      <p:sp>
        <p:nvSpPr>
          <p:cNvPr id="65" name="Shape 63"/>
          <p:cNvSpPr/>
          <p:nvPr/>
        </p:nvSpPr>
        <p:spPr>
          <a:xfrm>
            <a:off x="8229600" y="6080760"/>
            <a:ext cx="292608" cy="292608"/>
          </a:xfrm>
          <a:prstGeom prst="roundRect">
            <a:avLst>
              <a:gd name="adj" fmla="val 18750"/>
            </a:avLst>
          </a:prstGeom>
          <a:solidFill>
            <a:srgbClr val="D4AF37"/>
          </a:solidFill>
          <a:ln/>
        </p:spPr>
        <p:txBody>
          <a:bodyPr/>
          <a:lstStyle/>
          <a:p>
            <a:endParaRPr lang="fr-MA"/>
          </a:p>
        </p:txBody>
      </p:sp>
      <p:sp>
        <p:nvSpPr>
          <p:cNvPr id="66" name="Text 64"/>
          <p:cNvSpPr/>
          <p:nvPr/>
        </p:nvSpPr>
        <p:spPr>
          <a:xfrm>
            <a:off x="8595360" y="6053328"/>
            <a:ext cx="182880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Placed in final position</a:t>
            </a:r>
            <a:endParaRPr lang="en-US" sz="1100" dirty="0"/>
          </a:p>
        </p:txBody>
      </p:sp>
      <p:sp>
        <p:nvSpPr>
          <p:cNvPr id="67" name="Shape 65"/>
          <p:cNvSpPr/>
          <p:nvPr/>
        </p:nvSpPr>
        <p:spPr>
          <a:xfrm>
            <a:off x="10195560" y="6080760"/>
            <a:ext cx="292608" cy="292608"/>
          </a:xfrm>
          <a:prstGeom prst="roundRect">
            <a:avLst>
              <a:gd name="adj" fmla="val 18750"/>
            </a:avLst>
          </a:prstGeom>
          <a:solidFill>
            <a:srgbClr val="132A4E"/>
          </a:solidFill>
          <a:ln w="15875">
            <a:solidFill>
              <a:srgbClr val="24406E"/>
            </a:solidFill>
            <a:prstDash val="solid"/>
          </a:ln>
        </p:spPr>
        <p:txBody>
          <a:bodyPr/>
          <a:lstStyle/>
          <a:p>
            <a:endParaRPr lang="fr-MA"/>
          </a:p>
        </p:txBody>
      </p:sp>
      <p:sp>
        <p:nvSpPr>
          <p:cNvPr id="68" name="Text 66"/>
          <p:cNvSpPr/>
          <p:nvPr/>
        </p:nvSpPr>
        <p:spPr>
          <a:xfrm>
            <a:off x="10561320" y="6053328"/>
            <a:ext cx="146304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Still being compared</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02</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Selection Sort — Definition</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7" name="Text 5"/>
          <p:cNvSpPr/>
          <p:nvPr/>
        </p:nvSpPr>
        <p:spPr>
          <a:xfrm>
            <a:off x="640080" y="1828800"/>
            <a:ext cx="6309360" cy="1737360"/>
          </a:xfrm>
          <a:prstGeom prst="rect">
            <a:avLst/>
          </a:prstGeom>
          <a:noFill/>
          <a:ln/>
        </p:spPr>
        <p:txBody>
          <a:bodyPr wrap="square" lIns="0" tIns="0" rIns="0" bIns="0" rtlCol="0" anchor="t"/>
          <a:lstStyle/>
          <a:p>
            <a:pPr marL="0" indent="0" algn="l">
              <a:lnSpc>
                <a:spcPct val="128000"/>
              </a:lnSpc>
              <a:buNone/>
            </a:pPr>
            <a:r>
              <a:rPr lang="en-US" sz="1650" dirty="0">
                <a:solidFill>
                  <a:srgbClr val="FFFFFF"/>
                </a:solidFill>
                <a:latin typeface="Calibri" pitchFamily="34" charset="0"/>
                <a:ea typeface="Calibri" pitchFamily="34" charset="-122"/>
                <a:cs typeface="Calibri" pitchFamily="34" charset="-120"/>
              </a:rPr>
              <a:t>Selection Sort divides the list into a sorted and an unsorted part. On every pass, it scans the unsorted part to find the smallest value and moves it to the end of the sorted part.</a:t>
            </a:r>
            <a:endParaRPr lang="en-US" sz="1650" dirty="0"/>
          </a:p>
        </p:txBody>
      </p:sp>
      <p:grpSp>
        <p:nvGrpSpPr>
          <p:cNvPr id="40" name="Groupe 39">
            <a:extLst>
              <a:ext uri="{FF2B5EF4-FFF2-40B4-BE49-F238E27FC236}">
                <a16:creationId xmlns:a16="http://schemas.microsoft.com/office/drawing/2014/main" id="{00E21EAA-BC8C-5488-65DC-048B04231DFB}"/>
              </a:ext>
            </a:extLst>
          </p:cNvPr>
          <p:cNvGrpSpPr/>
          <p:nvPr/>
        </p:nvGrpSpPr>
        <p:grpSpPr>
          <a:xfrm>
            <a:off x="640080" y="2941043"/>
            <a:ext cx="6263640" cy="2587752"/>
            <a:chOff x="640080" y="3657600"/>
            <a:chExt cx="6263640" cy="2587752"/>
          </a:xfrm>
        </p:grpSpPr>
        <p:sp>
          <p:nvSpPr>
            <p:cNvPr id="8" name="Text 6"/>
            <p:cNvSpPr/>
            <p:nvPr/>
          </p:nvSpPr>
          <p:spPr>
            <a:xfrm>
              <a:off x="640080" y="3657600"/>
              <a:ext cx="4572000" cy="274320"/>
            </a:xfrm>
            <a:prstGeom prst="rect">
              <a:avLst/>
            </a:prstGeom>
            <a:noFill/>
            <a:ln/>
          </p:spPr>
          <p:txBody>
            <a:bodyPr wrap="square" lIns="0" tIns="0" rIns="0" bIns="0" rtlCol="0" anchor="ctr"/>
            <a:lstStyle/>
            <a:p>
              <a:pPr marL="0" indent="0" algn="l">
                <a:buNone/>
              </a:pPr>
              <a:r>
                <a:rPr lang="en-US" sz="1150" b="1" kern="0" spc="200" dirty="0">
                  <a:solidFill>
                    <a:srgbClr val="D4AF37"/>
                  </a:solidFill>
                  <a:latin typeface="Calibri" pitchFamily="34" charset="0"/>
                  <a:ea typeface="Calibri" pitchFamily="34" charset="-122"/>
                  <a:cs typeface="Calibri" pitchFamily="34" charset="-120"/>
                </a:rPr>
                <a:t>HOW IT WORKS</a:t>
              </a:r>
              <a:endParaRPr lang="en-US" sz="1150" dirty="0"/>
            </a:p>
          </p:txBody>
        </p:sp>
        <p:sp>
          <p:nvSpPr>
            <p:cNvPr id="9" name="Shape 7"/>
            <p:cNvSpPr/>
            <p:nvPr/>
          </p:nvSpPr>
          <p:spPr>
            <a:xfrm>
              <a:off x="676656" y="3986784"/>
              <a:ext cx="384048" cy="384048"/>
            </a:xfrm>
            <a:prstGeom prst="ellipse">
              <a:avLst/>
            </a:prstGeom>
            <a:solidFill>
              <a:srgbClr val="132A4E"/>
            </a:solidFill>
            <a:ln w="22225">
              <a:solidFill>
                <a:srgbClr val="D4AF37"/>
              </a:solidFill>
              <a:prstDash val="solid"/>
            </a:ln>
          </p:spPr>
          <p:txBody>
            <a:bodyPr/>
            <a:lstStyle/>
            <a:p>
              <a:endParaRPr lang="fr-MA"/>
            </a:p>
          </p:txBody>
        </p:sp>
        <p:sp>
          <p:nvSpPr>
            <p:cNvPr id="10" name="Text 8"/>
            <p:cNvSpPr/>
            <p:nvPr/>
          </p:nvSpPr>
          <p:spPr>
            <a:xfrm>
              <a:off x="676656" y="3986784"/>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1</a:t>
              </a:r>
              <a:endParaRPr lang="en-US" sz="1300" dirty="0"/>
            </a:p>
          </p:txBody>
        </p:sp>
        <p:sp>
          <p:nvSpPr>
            <p:cNvPr id="11" name="Text 9"/>
            <p:cNvSpPr/>
            <p:nvPr/>
          </p:nvSpPr>
          <p:spPr>
            <a:xfrm>
              <a:off x="1234440" y="3977640"/>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Search the unsorted portion for the smallest remaining value.</a:t>
              </a:r>
              <a:endParaRPr lang="en-US" sz="1250" dirty="0"/>
            </a:p>
          </p:txBody>
        </p:sp>
        <p:sp>
          <p:nvSpPr>
            <p:cNvPr id="12" name="Shape 10"/>
            <p:cNvSpPr/>
            <p:nvPr/>
          </p:nvSpPr>
          <p:spPr>
            <a:xfrm>
              <a:off x="676656" y="4553712"/>
              <a:ext cx="384048" cy="384048"/>
            </a:xfrm>
            <a:prstGeom prst="ellipse">
              <a:avLst/>
            </a:prstGeom>
            <a:solidFill>
              <a:srgbClr val="132A4E"/>
            </a:solidFill>
            <a:ln w="22225">
              <a:solidFill>
                <a:srgbClr val="D4AF37"/>
              </a:solidFill>
              <a:prstDash val="solid"/>
            </a:ln>
          </p:spPr>
          <p:txBody>
            <a:bodyPr/>
            <a:lstStyle/>
            <a:p>
              <a:endParaRPr lang="fr-MA"/>
            </a:p>
          </p:txBody>
        </p:sp>
        <p:sp>
          <p:nvSpPr>
            <p:cNvPr id="13" name="Text 11"/>
            <p:cNvSpPr/>
            <p:nvPr/>
          </p:nvSpPr>
          <p:spPr>
            <a:xfrm>
              <a:off x="676656" y="4553712"/>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1234440" y="4544568"/>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Swap it into the next open position at the front.</a:t>
              </a:r>
              <a:endParaRPr lang="en-US" sz="1250" dirty="0"/>
            </a:p>
          </p:txBody>
        </p:sp>
        <p:sp>
          <p:nvSpPr>
            <p:cNvPr id="15" name="Shape 13"/>
            <p:cNvSpPr/>
            <p:nvPr/>
          </p:nvSpPr>
          <p:spPr>
            <a:xfrm>
              <a:off x="676656" y="5120640"/>
              <a:ext cx="384048" cy="384048"/>
            </a:xfrm>
            <a:prstGeom prst="ellipse">
              <a:avLst/>
            </a:prstGeom>
            <a:solidFill>
              <a:srgbClr val="132A4E"/>
            </a:solidFill>
            <a:ln w="22225">
              <a:solidFill>
                <a:srgbClr val="D4AF37"/>
              </a:solidFill>
              <a:prstDash val="solid"/>
            </a:ln>
          </p:spPr>
          <p:txBody>
            <a:bodyPr/>
            <a:lstStyle/>
            <a:p>
              <a:endParaRPr lang="fr-MA"/>
            </a:p>
          </p:txBody>
        </p:sp>
        <p:sp>
          <p:nvSpPr>
            <p:cNvPr id="16" name="Text 14"/>
            <p:cNvSpPr/>
            <p:nvPr/>
          </p:nvSpPr>
          <p:spPr>
            <a:xfrm>
              <a:off x="676656" y="5120640"/>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34440" y="5111496"/>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Grow the sorted portion by one element.</a:t>
              </a:r>
              <a:endParaRPr lang="en-US" sz="1250" dirty="0"/>
            </a:p>
          </p:txBody>
        </p:sp>
        <p:sp>
          <p:nvSpPr>
            <p:cNvPr id="18" name="Shape 16"/>
            <p:cNvSpPr/>
            <p:nvPr/>
          </p:nvSpPr>
          <p:spPr>
            <a:xfrm>
              <a:off x="676656" y="5687568"/>
              <a:ext cx="384048" cy="384048"/>
            </a:xfrm>
            <a:prstGeom prst="ellipse">
              <a:avLst/>
            </a:prstGeom>
            <a:solidFill>
              <a:srgbClr val="132A4E"/>
            </a:solidFill>
            <a:ln w="22225">
              <a:solidFill>
                <a:srgbClr val="D4AF37"/>
              </a:solidFill>
              <a:prstDash val="solid"/>
            </a:ln>
          </p:spPr>
          <p:txBody>
            <a:bodyPr/>
            <a:lstStyle/>
            <a:p>
              <a:endParaRPr lang="fr-MA"/>
            </a:p>
          </p:txBody>
        </p:sp>
        <p:sp>
          <p:nvSpPr>
            <p:cNvPr id="19" name="Text 17"/>
            <p:cNvSpPr/>
            <p:nvPr/>
          </p:nvSpPr>
          <p:spPr>
            <a:xfrm>
              <a:off x="676656" y="5687568"/>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4</a:t>
              </a:r>
              <a:endParaRPr lang="en-US" sz="1300" dirty="0"/>
            </a:p>
          </p:txBody>
        </p:sp>
        <p:sp>
          <p:nvSpPr>
            <p:cNvPr id="20" name="Text 18"/>
            <p:cNvSpPr/>
            <p:nvPr/>
          </p:nvSpPr>
          <p:spPr>
            <a:xfrm>
              <a:off x="1234440" y="5678424"/>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Repeat until the whole array is sorted.</a:t>
              </a:r>
              <a:endParaRPr lang="en-US" sz="1250" dirty="0"/>
            </a:p>
          </p:txBody>
        </p:sp>
      </p:grpSp>
      <p:sp>
        <p:nvSpPr>
          <p:cNvPr id="41" name="Rectangle 40">
            <a:extLst>
              <a:ext uri="{FF2B5EF4-FFF2-40B4-BE49-F238E27FC236}">
                <a16:creationId xmlns:a16="http://schemas.microsoft.com/office/drawing/2014/main" id="{142270F6-9D88-1736-2A6A-8E7B05ACE04C}"/>
              </a:ext>
            </a:extLst>
          </p:cNvPr>
          <p:cNvSpPr/>
          <p:nvPr/>
        </p:nvSpPr>
        <p:spPr>
          <a:xfrm>
            <a:off x="6986016" y="0"/>
            <a:ext cx="5205985" cy="68580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06</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02 — IN ACTION</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Visualizing Selection Sort</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07</a:t>
            </a:r>
            <a:endParaRPr lang="en-US" sz="1000" dirty="0"/>
          </a:p>
        </p:txBody>
      </p:sp>
      <p:grpSp>
        <p:nvGrpSpPr>
          <p:cNvPr id="69" name="Groupe 68">
            <a:extLst>
              <a:ext uri="{FF2B5EF4-FFF2-40B4-BE49-F238E27FC236}">
                <a16:creationId xmlns:a16="http://schemas.microsoft.com/office/drawing/2014/main" id="{065FADA2-0A26-8C74-C1F4-5D9C14FAB4F7}"/>
              </a:ext>
            </a:extLst>
          </p:cNvPr>
          <p:cNvGrpSpPr/>
          <p:nvPr/>
        </p:nvGrpSpPr>
        <p:grpSpPr>
          <a:xfrm>
            <a:off x="1213658" y="1632204"/>
            <a:ext cx="8296102" cy="4315968"/>
            <a:chOff x="640080" y="1783080"/>
            <a:chExt cx="5980176" cy="4315968"/>
          </a:xfrm>
        </p:grpSpPr>
        <p:sp>
          <p:nvSpPr>
            <p:cNvPr id="7" name="Text 5"/>
            <p:cNvSpPr/>
            <p:nvPr/>
          </p:nvSpPr>
          <p:spPr>
            <a:xfrm>
              <a:off x="640080" y="17830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Start</a:t>
              </a:r>
              <a:endParaRPr lang="en-US" sz="1500" dirty="0"/>
            </a:p>
          </p:txBody>
        </p:sp>
        <p:sp>
          <p:nvSpPr>
            <p:cNvPr id="8" name="Text 6"/>
            <p:cNvSpPr/>
            <p:nvPr/>
          </p:nvSpPr>
          <p:spPr>
            <a:xfrm>
              <a:off x="640080" y="21451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unsorted array</a:t>
              </a:r>
              <a:endParaRPr lang="en-US" sz="1050" dirty="0"/>
            </a:p>
          </p:txBody>
        </p:sp>
        <p:sp>
          <p:nvSpPr>
            <p:cNvPr id="9" name="Shape 7"/>
            <p:cNvSpPr/>
            <p:nvPr/>
          </p:nvSpPr>
          <p:spPr>
            <a:xfrm>
              <a:off x="2743200"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0" name="Text 8"/>
            <p:cNvSpPr/>
            <p:nvPr/>
          </p:nvSpPr>
          <p:spPr>
            <a:xfrm>
              <a:off x="2743200"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1" name="Shape 9"/>
            <p:cNvSpPr/>
            <p:nvPr/>
          </p:nvSpPr>
          <p:spPr>
            <a:xfrm>
              <a:off x="3547872"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2" name="Text 10"/>
            <p:cNvSpPr/>
            <p:nvPr/>
          </p:nvSpPr>
          <p:spPr>
            <a:xfrm>
              <a:off x="3547872"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Shape 11"/>
            <p:cNvSpPr/>
            <p:nvPr/>
          </p:nvSpPr>
          <p:spPr>
            <a:xfrm>
              <a:off x="4352544"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4" name="Text 12"/>
            <p:cNvSpPr/>
            <p:nvPr/>
          </p:nvSpPr>
          <p:spPr>
            <a:xfrm>
              <a:off x="4352544"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5" name="Shape 13"/>
            <p:cNvSpPr/>
            <p:nvPr/>
          </p:nvSpPr>
          <p:spPr>
            <a:xfrm>
              <a:off x="5157216"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6" name="Text 14"/>
            <p:cNvSpPr/>
            <p:nvPr/>
          </p:nvSpPr>
          <p:spPr>
            <a:xfrm>
              <a:off x="5157216"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hape 15"/>
            <p:cNvSpPr/>
            <p:nvPr/>
          </p:nvSpPr>
          <p:spPr>
            <a:xfrm>
              <a:off x="5961888"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8" name="Text 16"/>
            <p:cNvSpPr/>
            <p:nvPr/>
          </p:nvSpPr>
          <p:spPr>
            <a:xfrm>
              <a:off x="5961888"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640080" y="26974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Pass 1</a:t>
              </a:r>
              <a:endParaRPr lang="en-US" sz="1500" dirty="0"/>
            </a:p>
          </p:txBody>
        </p:sp>
        <p:sp>
          <p:nvSpPr>
            <p:cNvPr id="20" name="Text 18"/>
            <p:cNvSpPr/>
            <p:nvPr/>
          </p:nvSpPr>
          <p:spPr>
            <a:xfrm>
              <a:off x="640080" y="30595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smallest → front</a:t>
              </a:r>
              <a:endParaRPr lang="en-US" sz="1050" dirty="0"/>
            </a:p>
          </p:txBody>
        </p:sp>
        <p:sp>
          <p:nvSpPr>
            <p:cNvPr id="21" name="Shape 19"/>
            <p:cNvSpPr/>
            <p:nvPr/>
          </p:nvSpPr>
          <p:spPr>
            <a:xfrm>
              <a:off x="2743200" y="26974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2" name="Text 20"/>
            <p:cNvSpPr/>
            <p:nvPr/>
          </p:nvSpPr>
          <p:spPr>
            <a:xfrm>
              <a:off x="2743200" y="26974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23" name="Shape 21"/>
            <p:cNvSpPr/>
            <p:nvPr/>
          </p:nvSpPr>
          <p:spPr>
            <a:xfrm>
              <a:off x="3547872"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4" name="Text 22"/>
            <p:cNvSpPr/>
            <p:nvPr/>
          </p:nvSpPr>
          <p:spPr>
            <a:xfrm>
              <a:off x="3547872"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5" name="Shape 23"/>
            <p:cNvSpPr/>
            <p:nvPr/>
          </p:nvSpPr>
          <p:spPr>
            <a:xfrm>
              <a:off x="4352544"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6" name="Text 24"/>
            <p:cNvSpPr/>
            <p:nvPr/>
          </p:nvSpPr>
          <p:spPr>
            <a:xfrm>
              <a:off x="4352544"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7" name="Shape 25"/>
            <p:cNvSpPr/>
            <p:nvPr/>
          </p:nvSpPr>
          <p:spPr>
            <a:xfrm>
              <a:off x="5157216"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8" name="Text 26"/>
            <p:cNvSpPr/>
            <p:nvPr/>
          </p:nvSpPr>
          <p:spPr>
            <a:xfrm>
              <a:off x="5157216"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9" name="Shape 27"/>
            <p:cNvSpPr/>
            <p:nvPr/>
          </p:nvSpPr>
          <p:spPr>
            <a:xfrm>
              <a:off x="5961888"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0" name="Text 28"/>
            <p:cNvSpPr/>
            <p:nvPr/>
          </p:nvSpPr>
          <p:spPr>
            <a:xfrm>
              <a:off x="5961888"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1" name="Text 29"/>
            <p:cNvSpPr/>
            <p:nvPr/>
          </p:nvSpPr>
          <p:spPr>
            <a:xfrm>
              <a:off x="640080" y="36118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Pass 2</a:t>
              </a:r>
              <a:endParaRPr lang="en-US" sz="1500" dirty="0"/>
            </a:p>
          </p:txBody>
        </p:sp>
        <p:sp>
          <p:nvSpPr>
            <p:cNvPr id="32" name="Shape 30"/>
            <p:cNvSpPr/>
            <p:nvPr/>
          </p:nvSpPr>
          <p:spPr>
            <a:xfrm>
              <a:off x="2743200"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3" name="Text 31"/>
            <p:cNvSpPr/>
            <p:nvPr/>
          </p:nvSpPr>
          <p:spPr>
            <a:xfrm>
              <a:off x="2743200"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34" name="Shape 32"/>
            <p:cNvSpPr/>
            <p:nvPr/>
          </p:nvSpPr>
          <p:spPr>
            <a:xfrm>
              <a:off x="3547872"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5" name="Text 33"/>
            <p:cNvSpPr/>
            <p:nvPr/>
          </p:nvSpPr>
          <p:spPr>
            <a:xfrm>
              <a:off x="3547872"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36" name="Shape 34"/>
            <p:cNvSpPr/>
            <p:nvPr/>
          </p:nvSpPr>
          <p:spPr>
            <a:xfrm>
              <a:off x="4352544"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7" name="Text 35"/>
            <p:cNvSpPr/>
            <p:nvPr/>
          </p:nvSpPr>
          <p:spPr>
            <a:xfrm>
              <a:off x="4352544"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38" name="Shape 36"/>
            <p:cNvSpPr/>
            <p:nvPr/>
          </p:nvSpPr>
          <p:spPr>
            <a:xfrm>
              <a:off x="5157216"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9" name="Text 37"/>
            <p:cNvSpPr/>
            <p:nvPr/>
          </p:nvSpPr>
          <p:spPr>
            <a:xfrm>
              <a:off x="5157216"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0" name="Shape 38"/>
            <p:cNvSpPr/>
            <p:nvPr/>
          </p:nvSpPr>
          <p:spPr>
            <a:xfrm>
              <a:off x="5961888"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41" name="Text 39"/>
            <p:cNvSpPr/>
            <p:nvPr/>
          </p:nvSpPr>
          <p:spPr>
            <a:xfrm>
              <a:off x="5961888"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42" name="Text 40"/>
            <p:cNvSpPr/>
            <p:nvPr/>
          </p:nvSpPr>
          <p:spPr>
            <a:xfrm>
              <a:off x="640080" y="45262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Pass 3</a:t>
              </a:r>
              <a:endParaRPr lang="en-US" sz="1500" dirty="0"/>
            </a:p>
          </p:txBody>
        </p:sp>
        <p:sp>
          <p:nvSpPr>
            <p:cNvPr id="43" name="Shape 41"/>
            <p:cNvSpPr/>
            <p:nvPr/>
          </p:nvSpPr>
          <p:spPr>
            <a:xfrm>
              <a:off x="2743200"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4" name="Text 42"/>
            <p:cNvSpPr/>
            <p:nvPr/>
          </p:nvSpPr>
          <p:spPr>
            <a:xfrm>
              <a:off x="2743200"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45" name="Shape 43"/>
            <p:cNvSpPr/>
            <p:nvPr/>
          </p:nvSpPr>
          <p:spPr>
            <a:xfrm>
              <a:off x="3547872"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6" name="Text 44"/>
            <p:cNvSpPr/>
            <p:nvPr/>
          </p:nvSpPr>
          <p:spPr>
            <a:xfrm>
              <a:off x="3547872"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47" name="Shape 45"/>
            <p:cNvSpPr/>
            <p:nvPr/>
          </p:nvSpPr>
          <p:spPr>
            <a:xfrm>
              <a:off x="4352544"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8" name="Text 46"/>
            <p:cNvSpPr/>
            <p:nvPr/>
          </p:nvSpPr>
          <p:spPr>
            <a:xfrm>
              <a:off x="4352544"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49" name="Shape 47"/>
            <p:cNvSpPr/>
            <p:nvPr/>
          </p:nvSpPr>
          <p:spPr>
            <a:xfrm>
              <a:off x="5157216" y="45262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50" name="Text 48"/>
            <p:cNvSpPr/>
            <p:nvPr/>
          </p:nvSpPr>
          <p:spPr>
            <a:xfrm>
              <a:off x="5157216" y="45262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51" name="Shape 49"/>
            <p:cNvSpPr/>
            <p:nvPr/>
          </p:nvSpPr>
          <p:spPr>
            <a:xfrm>
              <a:off x="5961888" y="45262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52" name="Text 50"/>
            <p:cNvSpPr/>
            <p:nvPr/>
          </p:nvSpPr>
          <p:spPr>
            <a:xfrm>
              <a:off x="5961888" y="45262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53" name="Text 51"/>
            <p:cNvSpPr/>
            <p:nvPr/>
          </p:nvSpPr>
          <p:spPr>
            <a:xfrm>
              <a:off x="640080" y="54406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Final</a:t>
              </a:r>
              <a:endParaRPr lang="en-US" sz="1500" dirty="0"/>
            </a:p>
          </p:txBody>
        </p:sp>
        <p:sp>
          <p:nvSpPr>
            <p:cNvPr id="54" name="Text 52"/>
            <p:cNvSpPr/>
            <p:nvPr/>
          </p:nvSpPr>
          <p:spPr>
            <a:xfrm>
              <a:off x="640080" y="58027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fully sorted</a:t>
              </a:r>
              <a:endParaRPr lang="en-US" sz="1050" dirty="0"/>
            </a:p>
          </p:txBody>
        </p:sp>
        <p:sp>
          <p:nvSpPr>
            <p:cNvPr id="55" name="Shape 53"/>
            <p:cNvSpPr/>
            <p:nvPr/>
          </p:nvSpPr>
          <p:spPr>
            <a:xfrm>
              <a:off x="2743200"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6" name="Text 54"/>
            <p:cNvSpPr/>
            <p:nvPr/>
          </p:nvSpPr>
          <p:spPr>
            <a:xfrm>
              <a:off x="2743200"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57" name="Shape 55"/>
            <p:cNvSpPr/>
            <p:nvPr/>
          </p:nvSpPr>
          <p:spPr>
            <a:xfrm>
              <a:off x="3547872"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8" name="Text 56"/>
            <p:cNvSpPr/>
            <p:nvPr/>
          </p:nvSpPr>
          <p:spPr>
            <a:xfrm>
              <a:off x="3547872"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59" name="Shape 57"/>
            <p:cNvSpPr/>
            <p:nvPr/>
          </p:nvSpPr>
          <p:spPr>
            <a:xfrm>
              <a:off x="4352544"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0" name="Text 58"/>
            <p:cNvSpPr/>
            <p:nvPr/>
          </p:nvSpPr>
          <p:spPr>
            <a:xfrm>
              <a:off x="4352544"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61" name="Shape 59"/>
            <p:cNvSpPr/>
            <p:nvPr/>
          </p:nvSpPr>
          <p:spPr>
            <a:xfrm>
              <a:off x="5157216"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2" name="Text 60"/>
            <p:cNvSpPr/>
            <p:nvPr/>
          </p:nvSpPr>
          <p:spPr>
            <a:xfrm>
              <a:off x="5157216"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63" name="Shape 61"/>
            <p:cNvSpPr/>
            <p:nvPr/>
          </p:nvSpPr>
          <p:spPr>
            <a:xfrm>
              <a:off x="5961888"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4" name="Text 62"/>
            <p:cNvSpPr/>
            <p:nvPr/>
          </p:nvSpPr>
          <p:spPr>
            <a:xfrm>
              <a:off x="5961888"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grpSp>
      <p:sp>
        <p:nvSpPr>
          <p:cNvPr id="65" name="Shape 63"/>
          <p:cNvSpPr/>
          <p:nvPr/>
        </p:nvSpPr>
        <p:spPr>
          <a:xfrm>
            <a:off x="8229600" y="6080760"/>
            <a:ext cx="292608" cy="292608"/>
          </a:xfrm>
          <a:prstGeom prst="roundRect">
            <a:avLst>
              <a:gd name="adj" fmla="val 18750"/>
            </a:avLst>
          </a:prstGeom>
          <a:solidFill>
            <a:srgbClr val="D4AF37"/>
          </a:solidFill>
          <a:ln/>
        </p:spPr>
        <p:txBody>
          <a:bodyPr/>
          <a:lstStyle/>
          <a:p>
            <a:endParaRPr lang="fr-MA"/>
          </a:p>
        </p:txBody>
      </p:sp>
      <p:sp>
        <p:nvSpPr>
          <p:cNvPr id="66" name="Text 64"/>
          <p:cNvSpPr/>
          <p:nvPr/>
        </p:nvSpPr>
        <p:spPr>
          <a:xfrm>
            <a:off x="8595360" y="6053328"/>
            <a:ext cx="182880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Sorted portion (front)</a:t>
            </a:r>
            <a:endParaRPr lang="en-US" sz="1100" dirty="0"/>
          </a:p>
        </p:txBody>
      </p:sp>
      <p:sp>
        <p:nvSpPr>
          <p:cNvPr id="67" name="Shape 65"/>
          <p:cNvSpPr/>
          <p:nvPr/>
        </p:nvSpPr>
        <p:spPr>
          <a:xfrm>
            <a:off x="10195560" y="6080760"/>
            <a:ext cx="292608" cy="292608"/>
          </a:xfrm>
          <a:prstGeom prst="roundRect">
            <a:avLst>
              <a:gd name="adj" fmla="val 18750"/>
            </a:avLst>
          </a:prstGeom>
          <a:solidFill>
            <a:srgbClr val="132A4E"/>
          </a:solidFill>
          <a:ln w="15875">
            <a:solidFill>
              <a:srgbClr val="24406E"/>
            </a:solidFill>
            <a:prstDash val="solid"/>
          </a:ln>
        </p:spPr>
        <p:txBody>
          <a:bodyPr/>
          <a:lstStyle/>
          <a:p>
            <a:endParaRPr lang="fr-MA"/>
          </a:p>
        </p:txBody>
      </p:sp>
      <p:sp>
        <p:nvSpPr>
          <p:cNvPr id="68" name="Text 66"/>
          <p:cNvSpPr/>
          <p:nvPr/>
        </p:nvSpPr>
        <p:spPr>
          <a:xfrm>
            <a:off x="10561320" y="6053328"/>
            <a:ext cx="146304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Unsorted portion</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03</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Insertion Sort — Definition</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7" name="Text 5"/>
          <p:cNvSpPr/>
          <p:nvPr/>
        </p:nvSpPr>
        <p:spPr>
          <a:xfrm>
            <a:off x="640080" y="1828800"/>
            <a:ext cx="6309360" cy="1737360"/>
          </a:xfrm>
          <a:prstGeom prst="rect">
            <a:avLst/>
          </a:prstGeom>
          <a:noFill/>
          <a:ln/>
        </p:spPr>
        <p:txBody>
          <a:bodyPr wrap="square" lIns="0" tIns="0" rIns="0" bIns="0" rtlCol="0" anchor="t"/>
          <a:lstStyle/>
          <a:p>
            <a:pPr marL="0" indent="0" algn="l">
              <a:lnSpc>
                <a:spcPct val="128000"/>
              </a:lnSpc>
              <a:buNone/>
            </a:pPr>
            <a:r>
              <a:rPr lang="en-US" sz="1650" dirty="0">
                <a:solidFill>
                  <a:srgbClr val="FFFFFF"/>
                </a:solidFill>
                <a:latin typeface="Calibri" pitchFamily="34" charset="0"/>
                <a:ea typeface="Calibri" pitchFamily="34" charset="-122"/>
                <a:cs typeface="Calibri" pitchFamily="34" charset="-120"/>
              </a:rPr>
              <a:t>Insertion Sort builds the sorted list one element at a time. It takes the next unsorted value and inserts it into its correct position among the already-sorted elements, shifting others as needed.</a:t>
            </a:r>
            <a:endParaRPr lang="en-US" sz="1650" dirty="0"/>
          </a:p>
        </p:txBody>
      </p:sp>
      <p:grpSp>
        <p:nvGrpSpPr>
          <p:cNvPr id="40" name="Groupe 39">
            <a:extLst>
              <a:ext uri="{FF2B5EF4-FFF2-40B4-BE49-F238E27FC236}">
                <a16:creationId xmlns:a16="http://schemas.microsoft.com/office/drawing/2014/main" id="{0E831A74-845E-3873-265D-C562A0690B17}"/>
              </a:ext>
            </a:extLst>
          </p:cNvPr>
          <p:cNvGrpSpPr/>
          <p:nvPr/>
        </p:nvGrpSpPr>
        <p:grpSpPr>
          <a:xfrm>
            <a:off x="640080" y="3090672"/>
            <a:ext cx="6263640" cy="2587752"/>
            <a:chOff x="640080" y="3657600"/>
            <a:chExt cx="6263640" cy="2587752"/>
          </a:xfrm>
        </p:grpSpPr>
        <p:sp>
          <p:nvSpPr>
            <p:cNvPr id="8" name="Text 6"/>
            <p:cNvSpPr/>
            <p:nvPr/>
          </p:nvSpPr>
          <p:spPr>
            <a:xfrm>
              <a:off x="640080" y="3657600"/>
              <a:ext cx="4572000" cy="274320"/>
            </a:xfrm>
            <a:prstGeom prst="rect">
              <a:avLst/>
            </a:prstGeom>
            <a:noFill/>
            <a:ln/>
          </p:spPr>
          <p:txBody>
            <a:bodyPr wrap="square" lIns="0" tIns="0" rIns="0" bIns="0" rtlCol="0" anchor="ctr"/>
            <a:lstStyle/>
            <a:p>
              <a:pPr marL="0" indent="0" algn="l">
                <a:buNone/>
              </a:pPr>
              <a:r>
                <a:rPr lang="en-US" sz="1150" b="1" kern="0" spc="200" dirty="0">
                  <a:solidFill>
                    <a:srgbClr val="D4AF37"/>
                  </a:solidFill>
                  <a:latin typeface="Calibri" pitchFamily="34" charset="0"/>
                  <a:ea typeface="Calibri" pitchFamily="34" charset="-122"/>
                  <a:cs typeface="Calibri" pitchFamily="34" charset="-120"/>
                </a:rPr>
                <a:t>HOW IT WORKS</a:t>
              </a:r>
              <a:endParaRPr lang="en-US" sz="1150" dirty="0"/>
            </a:p>
          </p:txBody>
        </p:sp>
        <p:sp>
          <p:nvSpPr>
            <p:cNvPr id="9" name="Shape 7"/>
            <p:cNvSpPr/>
            <p:nvPr/>
          </p:nvSpPr>
          <p:spPr>
            <a:xfrm>
              <a:off x="676656" y="3986784"/>
              <a:ext cx="384048" cy="384048"/>
            </a:xfrm>
            <a:prstGeom prst="ellipse">
              <a:avLst/>
            </a:prstGeom>
            <a:solidFill>
              <a:srgbClr val="132A4E"/>
            </a:solidFill>
            <a:ln w="22225">
              <a:solidFill>
                <a:srgbClr val="D4AF37"/>
              </a:solidFill>
              <a:prstDash val="solid"/>
            </a:ln>
          </p:spPr>
          <p:txBody>
            <a:bodyPr/>
            <a:lstStyle/>
            <a:p>
              <a:endParaRPr lang="fr-MA"/>
            </a:p>
          </p:txBody>
        </p:sp>
        <p:sp>
          <p:nvSpPr>
            <p:cNvPr id="10" name="Text 8"/>
            <p:cNvSpPr/>
            <p:nvPr/>
          </p:nvSpPr>
          <p:spPr>
            <a:xfrm>
              <a:off x="676656" y="3986784"/>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1</a:t>
              </a:r>
              <a:endParaRPr lang="en-US" sz="1300" dirty="0"/>
            </a:p>
          </p:txBody>
        </p:sp>
        <p:sp>
          <p:nvSpPr>
            <p:cNvPr id="11" name="Text 9"/>
            <p:cNvSpPr/>
            <p:nvPr/>
          </p:nvSpPr>
          <p:spPr>
            <a:xfrm>
              <a:off x="1234440" y="3977640"/>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Treat the first element as a sorted list of one.</a:t>
              </a:r>
              <a:endParaRPr lang="en-US" sz="1250" dirty="0"/>
            </a:p>
          </p:txBody>
        </p:sp>
        <p:sp>
          <p:nvSpPr>
            <p:cNvPr id="12" name="Shape 10"/>
            <p:cNvSpPr/>
            <p:nvPr/>
          </p:nvSpPr>
          <p:spPr>
            <a:xfrm>
              <a:off x="676656" y="4553712"/>
              <a:ext cx="384048" cy="384048"/>
            </a:xfrm>
            <a:prstGeom prst="ellipse">
              <a:avLst/>
            </a:prstGeom>
            <a:solidFill>
              <a:srgbClr val="132A4E"/>
            </a:solidFill>
            <a:ln w="22225">
              <a:solidFill>
                <a:srgbClr val="D4AF37"/>
              </a:solidFill>
              <a:prstDash val="solid"/>
            </a:ln>
          </p:spPr>
          <p:txBody>
            <a:bodyPr/>
            <a:lstStyle/>
            <a:p>
              <a:endParaRPr lang="fr-MA"/>
            </a:p>
          </p:txBody>
        </p:sp>
        <p:sp>
          <p:nvSpPr>
            <p:cNvPr id="13" name="Text 11"/>
            <p:cNvSpPr/>
            <p:nvPr/>
          </p:nvSpPr>
          <p:spPr>
            <a:xfrm>
              <a:off x="676656" y="4553712"/>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1234440" y="4544568"/>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Take the next element and compare it backward through the sorted part.</a:t>
              </a:r>
              <a:endParaRPr lang="en-US" sz="1250" dirty="0"/>
            </a:p>
          </p:txBody>
        </p:sp>
        <p:sp>
          <p:nvSpPr>
            <p:cNvPr id="15" name="Shape 13"/>
            <p:cNvSpPr/>
            <p:nvPr/>
          </p:nvSpPr>
          <p:spPr>
            <a:xfrm>
              <a:off x="676656" y="5120640"/>
              <a:ext cx="384048" cy="384048"/>
            </a:xfrm>
            <a:prstGeom prst="ellipse">
              <a:avLst/>
            </a:prstGeom>
            <a:solidFill>
              <a:srgbClr val="132A4E"/>
            </a:solidFill>
            <a:ln w="22225">
              <a:solidFill>
                <a:srgbClr val="D4AF37"/>
              </a:solidFill>
              <a:prstDash val="solid"/>
            </a:ln>
          </p:spPr>
          <p:txBody>
            <a:bodyPr/>
            <a:lstStyle/>
            <a:p>
              <a:endParaRPr lang="fr-MA"/>
            </a:p>
          </p:txBody>
        </p:sp>
        <p:sp>
          <p:nvSpPr>
            <p:cNvPr id="16" name="Text 14"/>
            <p:cNvSpPr/>
            <p:nvPr/>
          </p:nvSpPr>
          <p:spPr>
            <a:xfrm>
              <a:off x="676656" y="5120640"/>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34440" y="5111496"/>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Shift larger elements right to make room.</a:t>
              </a:r>
              <a:endParaRPr lang="en-US" sz="1250" dirty="0"/>
            </a:p>
          </p:txBody>
        </p:sp>
        <p:sp>
          <p:nvSpPr>
            <p:cNvPr id="18" name="Shape 16"/>
            <p:cNvSpPr/>
            <p:nvPr/>
          </p:nvSpPr>
          <p:spPr>
            <a:xfrm>
              <a:off x="676656" y="5687568"/>
              <a:ext cx="384048" cy="384048"/>
            </a:xfrm>
            <a:prstGeom prst="ellipse">
              <a:avLst/>
            </a:prstGeom>
            <a:solidFill>
              <a:srgbClr val="132A4E"/>
            </a:solidFill>
            <a:ln w="22225">
              <a:solidFill>
                <a:srgbClr val="D4AF37"/>
              </a:solidFill>
              <a:prstDash val="solid"/>
            </a:ln>
          </p:spPr>
          <p:txBody>
            <a:bodyPr/>
            <a:lstStyle/>
            <a:p>
              <a:endParaRPr lang="fr-MA"/>
            </a:p>
          </p:txBody>
        </p:sp>
        <p:sp>
          <p:nvSpPr>
            <p:cNvPr id="19" name="Text 17"/>
            <p:cNvSpPr/>
            <p:nvPr/>
          </p:nvSpPr>
          <p:spPr>
            <a:xfrm>
              <a:off x="676656" y="5687568"/>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4</a:t>
              </a:r>
              <a:endParaRPr lang="en-US" sz="1300" dirty="0"/>
            </a:p>
          </p:txBody>
        </p:sp>
        <p:sp>
          <p:nvSpPr>
            <p:cNvPr id="20" name="Text 18"/>
            <p:cNvSpPr/>
            <p:nvPr/>
          </p:nvSpPr>
          <p:spPr>
            <a:xfrm>
              <a:off x="1234440" y="5678424"/>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Insert the element into its correct slot; repeat for all remaining items.</a:t>
              </a:r>
              <a:endParaRPr lang="en-US" sz="1250" dirty="0"/>
            </a:p>
          </p:txBody>
        </p:sp>
      </p:grpSp>
      <p:sp>
        <p:nvSpPr>
          <p:cNvPr id="41" name="Rectangle 40">
            <a:extLst>
              <a:ext uri="{FF2B5EF4-FFF2-40B4-BE49-F238E27FC236}">
                <a16:creationId xmlns:a16="http://schemas.microsoft.com/office/drawing/2014/main" id="{F29E2F89-540F-E38C-B051-D0CD47F977F3}"/>
              </a:ext>
            </a:extLst>
          </p:cNvPr>
          <p:cNvSpPr/>
          <p:nvPr/>
        </p:nvSpPr>
        <p:spPr>
          <a:xfrm>
            <a:off x="6705600" y="0"/>
            <a:ext cx="5486400" cy="68580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08</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dirty="0"/>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03 — IN ACTION</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Visualizing Insertion Sort</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09</a:t>
            </a:r>
            <a:endParaRPr lang="en-US" sz="1000" dirty="0"/>
          </a:p>
        </p:txBody>
      </p:sp>
      <p:grpSp>
        <p:nvGrpSpPr>
          <p:cNvPr id="68" name="Groupe 67">
            <a:extLst>
              <a:ext uri="{FF2B5EF4-FFF2-40B4-BE49-F238E27FC236}">
                <a16:creationId xmlns:a16="http://schemas.microsoft.com/office/drawing/2014/main" id="{757076D5-1F49-D393-5138-5C6CA4B964DB}"/>
              </a:ext>
            </a:extLst>
          </p:cNvPr>
          <p:cNvGrpSpPr/>
          <p:nvPr/>
        </p:nvGrpSpPr>
        <p:grpSpPr>
          <a:xfrm>
            <a:off x="1404623" y="1723644"/>
            <a:ext cx="8462356" cy="4133088"/>
            <a:chOff x="640080" y="1783080"/>
            <a:chExt cx="5980176" cy="4315968"/>
          </a:xfrm>
        </p:grpSpPr>
        <p:sp>
          <p:nvSpPr>
            <p:cNvPr id="7" name="Text 5"/>
            <p:cNvSpPr/>
            <p:nvPr/>
          </p:nvSpPr>
          <p:spPr>
            <a:xfrm>
              <a:off x="640080" y="17830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Start</a:t>
              </a:r>
              <a:endParaRPr lang="en-US" sz="1500" dirty="0"/>
            </a:p>
          </p:txBody>
        </p:sp>
        <p:sp>
          <p:nvSpPr>
            <p:cNvPr id="8" name="Text 6"/>
            <p:cNvSpPr/>
            <p:nvPr/>
          </p:nvSpPr>
          <p:spPr>
            <a:xfrm>
              <a:off x="640080" y="21451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first element sorted</a:t>
              </a:r>
              <a:endParaRPr lang="en-US" sz="1050" dirty="0"/>
            </a:p>
          </p:txBody>
        </p:sp>
        <p:sp>
          <p:nvSpPr>
            <p:cNvPr id="9" name="Shape 7"/>
            <p:cNvSpPr/>
            <p:nvPr/>
          </p:nvSpPr>
          <p:spPr>
            <a:xfrm>
              <a:off x="2743200" y="17830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10" name="Text 8"/>
            <p:cNvSpPr/>
            <p:nvPr/>
          </p:nvSpPr>
          <p:spPr>
            <a:xfrm>
              <a:off x="2743200" y="17830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11" name="Shape 9"/>
            <p:cNvSpPr/>
            <p:nvPr/>
          </p:nvSpPr>
          <p:spPr>
            <a:xfrm>
              <a:off x="3547872"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2" name="Text 10"/>
            <p:cNvSpPr/>
            <p:nvPr/>
          </p:nvSpPr>
          <p:spPr>
            <a:xfrm>
              <a:off x="3547872"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Shape 11"/>
            <p:cNvSpPr/>
            <p:nvPr/>
          </p:nvSpPr>
          <p:spPr>
            <a:xfrm>
              <a:off x="4352544"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4" name="Text 12"/>
            <p:cNvSpPr/>
            <p:nvPr/>
          </p:nvSpPr>
          <p:spPr>
            <a:xfrm>
              <a:off x="4352544"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15" name="Shape 13"/>
            <p:cNvSpPr/>
            <p:nvPr/>
          </p:nvSpPr>
          <p:spPr>
            <a:xfrm>
              <a:off x="5157216"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6" name="Text 14"/>
            <p:cNvSpPr/>
            <p:nvPr/>
          </p:nvSpPr>
          <p:spPr>
            <a:xfrm>
              <a:off x="5157216"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hape 15"/>
            <p:cNvSpPr/>
            <p:nvPr/>
          </p:nvSpPr>
          <p:spPr>
            <a:xfrm>
              <a:off x="5961888" y="17830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18" name="Text 16"/>
            <p:cNvSpPr/>
            <p:nvPr/>
          </p:nvSpPr>
          <p:spPr>
            <a:xfrm>
              <a:off x="5961888" y="17830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p:nvPr/>
          </p:nvSpPr>
          <p:spPr>
            <a:xfrm>
              <a:off x="640080" y="26974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Insert 3</a:t>
              </a:r>
              <a:endParaRPr lang="en-US" sz="1500" dirty="0"/>
            </a:p>
          </p:txBody>
        </p:sp>
        <p:sp>
          <p:nvSpPr>
            <p:cNvPr id="20" name="Shape 18"/>
            <p:cNvSpPr/>
            <p:nvPr/>
          </p:nvSpPr>
          <p:spPr>
            <a:xfrm>
              <a:off x="2743200" y="26974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1" name="Text 19"/>
            <p:cNvSpPr/>
            <p:nvPr/>
          </p:nvSpPr>
          <p:spPr>
            <a:xfrm>
              <a:off x="2743200" y="26974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22" name="Shape 20"/>
            <p:cNvSpPr/>
            <p:nvPr/>
          </p:nvSpPr>
          <p:spPr>
            <a:xfrm>
              <a:off x="3547872" y="26974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23" name="Text 21"/>
            <p:cNvSpPr/>
            <p:nvPr/>
          </p:nvSpPr>
          <p:spPr>
            <a:xfrm>
              <a:off x="3547872" y="26974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24" name="Shape 22"/>
            <p:cNvSpPr/>
            <p:nvPr/>
          </p:nvSpPr>
          <p:spPr>
            <a:xfrm>
              <a:off x="4352544"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5" name="Text 23"/>
            <p:cNvSpPr/>
            <p:nvPr/>
          </p:nvSpPr>
          <p:spPr>
            <a:xfrm>
              <a:off x="4352544"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6" name="Shape 24"/>
            <p:cNvSpPr/>
            <p:nvPr/>
          </p:nvSpPr>
          <p:spPr>
            <a:xfrm>
              <a:off x="5157216"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7" name="Text 25"/>
            <p:cNvSpPr/>
            <p:nvPr/>
          </p:nvSpPr>
          <p:spPr>
            <a:xfrm>
              <a:off x="5157216"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8" name="Shape 26"/>
            <p:cNvSpPr/>
            <p:nvPr/>
          </p:nvSpPr>
          <p:spPr>
            <a:xfrm>
              <a:off x="5961888" y="26974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29" name="Text 27"/>
            <p:cNvSpPr/>
            <p:nvPr/>
          </p:nvSpPr>
          <p:spPr>
            <a:xfrm>
              <a:off x="5961888" y="26974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30" name="Text 28"/>
            <p:cNvSpPr/>
            <p:nvPr/>
          </p:nvSpPr>
          <p:spPr>
            <a:xfrm>
              <a:off x="640080" y="36118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Insert 8</a:t>
              </a:r>
              <a:endParaRPr lang="en-US" sz="1500" dirty="0"/>
            </a:p>
          </p:txBody>
        </p:sp>
        <p:sp>
          <p:nvSpPr>
            <p:cNvPr id="31" name="Shape 29"/>
            <p:cNvSpPr/>
            <p:nvPr/>
          </p:nvSpPr>
          <p:spPr>
            <a:xfrm>
              <a:off x="2743200"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2" name="Text 30"/>
            <p:cNvSpPr/>
            <p:nvPr/>
          </p:nvSpPr>
          <p:spPr>
            <a:xfrm>
              <a:off x="2743200"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33" name="Shape 31"/>
            <p:cNvSpPr/>
            <p:nvPr/>
          </p:nvSpPr>
          <p:spPr>
            <a:xfrm>
              <a:off x="3547872"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4" name="Text 32"/>
            <p:cNvSpPr/>
            <p:nvPr/>
          </p:nvSpPr>
          <p:spPr>
            <a:xfrm>
              <a:off x="3547872"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35" name="Shape 33"/>
            <p:cNvSpPr/>
            <p:nvPr/>
          </p:nvSpPr>
          <p:spPr>
            <a:xfrm>
              <a:off x="4352544" y="36118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36" name="Text 34"/>
            <p:cNvSpPr/>
            <p:nvPr/>
          </p:nvSpPr>
          <p:spPr>
            <a:xfrm>
              <a:off x="4352544" y="36118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37" name="Shape 35"/>
            <p:cNvSpPr/>
            <p:nvPr/>
          </p:nvSpPr>
          <p:spPr>
            <a:xfrm>
              <a:off x="5157216"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38" name="Text 36"/>
            <p:cNvSpPr/>
            <p:nvPr/>
          </p:nvSpPr>
          <p:spPr>
            <a:xfrm>
              <a:off x="5157216"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9" name="Shape 37"/>
            <p:cNvSpPr/>
            <p:nvPr/>
          </p:nvSpPr>
          <p:spPr>
            <a:xfrm>
              <a:off x="5961888" y="36118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40" name="Text 38"/>
            <p:cNvSpPr/>
            <p:nvPr/>
          </p:nvSpPr>
          <p:spPr>
            <a:xfrm>
              <a:off x="5961888" y="36118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1" name="Text 39"/>
            <p:cNvSpPr/>
            <p:nvPr/>
          </p:nvSpPr>
          <p:spPr>
            <a:xfrm>
              <a:off x="640080" y="4526280"/>
              <a:ext cx="18288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Insert 4</a:t>
              </a:r>
              <a:endParaRPr lang="en-US" sz="1500" dirty="0"/>
            </a:p>
          </p:txBody>
        </p:sp>
        <p:sp>
          <p:nvSpPr>
            <p:cNvPr id="42" name="Shape 40"/>
            <p:cNvSpPr/>
            <p:nvPr/>
          </p:nvSpPr>
          <p:spPr>
            <a:xfrm>
              <a:off x="2743200"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3" name="Text 41"/>
            <p:cNvSpPr/>
            <p:nvPr/>
          </p:nvSpPr>
          <p:spPr>
            <a:xfrm>
              <a:off x="2743200"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44" name="Shape 42"/>
            <p:cNvSpPr/>
            <p:nvPr/>
          </p:nvSpPr>
          <p:spPr>
            <a:xfrm>
              <a:off x="3547872"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5" name="Text 43"/>
            <p:cNvSpPr/>
            <p:nvPr/>
          </p:nvSpPr>
          <p:spPr>
            <a:xfrm>
              <a:off x="3547872"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46" name="Shape 44"/>
            <p:cNvSpPr/>
            <p:nvPr/>
          </p:nvSpPr>
          <p:spPr>
            <a:xfrm>
              <a:off x="4352544"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7" name="Text 45"/>
            <p:cNvSpPr/>
            <p:nvPr/>
          </p:nvSpPr>
          <p:spPr>
            <a:xfrm>
              <a:off x="4352544"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48" name="Shape 46"/>
            <p:cNvSpPr/>
            <p:nvPr/>
          </p:nvSpPr>
          <p:spPr>
            <a:xfrm>
              <a:off x="5157216" y="45262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49" name="Text 47"/>
            <p:cNvSpPr/>
            <p:nvPr/>
          </p:nvSpPr>
          <p:spPr>
            <a:xfrm>
              <a:off x="5157216" y="45262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sp>
          <p:nvSpPr>
            <p:cNvPr id="50" name="Shape 48"/>
            <p:cNvSpPr/>
            <p:nvPr/>
          </p:nvSpPr>
          <p:spPr>
            <a:xfrm>
              <a:off x="5961888" y="4526280"/>
              <a:ext cx="658368" cy="658368"/>
            </a:xfrm>
            <a:prstGeom prst="roundRect">
              <a:avLst>
                <a:gd name="adj" fmla="val 11111"/>
              </a:avLst>
            </a:prstGeom>
            <a:solidFill>
              <a:srgbClr val="132A4E"/>
            </a:solidFill>
            <a:ln w="15875">
              <a:solidFill>
                <a:srgbClr val="24406E"/>
              </a:solidFill>
              <a:prstDash val="solid"/>
            </a:ln>
          </p:spPr>
          <p:txBody>
            <a:bodyPr/>
            <a:lstStyle/>
            <a:p>
              <a:endParaRPr lang="fr-MA"/>
            </a:p>
          </p:txBody>
        </p:sp>
        <p:sp>
          <p:nvSpPr>
            <p:cNvPr id="51" name="Text 49"/>
            <p:cNvSpPr/>
            <p:nvPr/>
          </p:nvSpPr>
          <p:spPr>
            <a:xfrm>
              <a:off x="5961888" y="4526280"/>
              <a:ext cx="658368" cy="65836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52" name="Text 50"/>
            <p:cNvSpPr/>
            <p:nvPr/>
          </p:nvSpPr>
          <p:spPr>
            <a:xfrm>
              <a:off x="640080" y="5440680"/>
              <a:ext cx="1828800" cy="395021"/>
            </a:xfrm>
            <a:prstGeom prst="rect">
              <a:avLst/>
            </a:prstGeom>
            <a:noFill/>
            <a:ln/>
          </p:spPr>
          <p:txBody>
            <a:bodyPr wrap="square" lIns="0" tIns="0" rIns="0" bIns="0" rtlCol="0" anchor="b"/>
            <a:lstStyle/>
            <a:p>
              <a:pPr marL="0" indent="0" algn="ctr">
                <a:buNone/>
              </a:pPr>
              <a:r>
                <a:rPr lang="en-US" sz="1500" b="1" dirty="0">
                  <a:solidFill>
                    <a:srgbClr val="FFFFFF"/>
                  </a:solidFill>
                  <a:latin typeface="Calibri" pitchFamily="34" charset="0"/>
                  <a:ea typeface="Calibri" pitchFamily="34" charset="-122"/>
                  <a:cs typeface="Calibri" pitchFamily="34" charset="-120"/>
                </a:rPr>
                <a:t>Insert 2</a:t>
              </a:r>
              <a:endParaRPr lang="en-US" sz="1500" dirty="0"/>
            </a:p>
          </p:txBody>
        </p:sp>
        <p:sp>
          <p:nvSpPr>
            <p:cNvPr id="53" name="Text 51"/>
            <p:cNvSpPr/>
            <p:nvPr/>
          </p:nvSpPr>
          <p:spPr>
            <a:xfrm>
              <a:off x="640080" y="5802782"/>
              <a:ext cx="2103120" cy="263347"/>
            </a:xfrm>
            <a:prstGeom prst="rect">
              <a:avLst/>
            </a:prstGeom>
            <a:noFill/>
            <a:ln/>
          </p:spPr>
          <p:txBody>
            <a:bodyPr wrap="square" lIns="0" tIns="0" rIns="0" bIns="0" rtlCol="0" anchor="t"/>
            <a:lstStyle/>
            <a:p>
              <a:pPr marL="0" indent="0" algn="ctr">
                <a:buNone/>
              </a:pPr>
              <a:r>
                <a:rPr lang="en-US" sz="1050" dirty="0">
                  <a:solidFill>
                    <a:srgbClr val="9FB3CF"/>
                  </a:solidFill>
                  <a:latin typeface="Calibri" pitchFamily="34" charset="0"/>
                  <a:ea typeface="Calibri" pitchFamily="34" charset="-122"/>
                  <a:cs typeface="Calibri" pitchFamily="34" charset="-120"/>
                </a:rPr>
                <a:t>fully sorted</a:t>
              </a:r>
              <a:endParaRPr lang="en-US" sz="1050" dirty="0"/>
            </a:p>
          </p:txBody>
        </p:sp>
        <p:sp>
          <p:nvSpPr>
            <p:cNvPr id="54" name="Shape 52"/>
            <p:cNvSpPr/>
            <p:nvPr/>
          </p:nvSpPr>
          <p:spPr>
            <a:xfrm>
              <a:off x="2743200"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5" name="Text 53"/>
            <p:cNvSpPr/>
            <p:nvPr/>
          </p:nvSpPr>
          <p:spPr>
            <a:xfrm>
              <a:off x="2743200"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2</a:t>
              </a:r>
              <a:endParaRPr lang="en-US" sz="2000" dirty="0"/>
            </a:p>
          </p:txBody>
        </p:sp>
        <p:sp>
          <p:nvSpPr>
            <p:cNvPr id="56" name="Shape 54"/>
            <p:cNvSpPr/>
            <p:nvPr/>
          </p:nvSpPr>
          <p:spPr>
            <a:xfrm>
              <a:off x="3547872"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7" name="Text 55"/>
            <p:cNvSpPr/>
            <p:nvPr/>
          </p:nvSpPr>
          <p:spPr>
            <a:xfrm>
              <a:off x="3547872"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3</a:t>
              </a:r>
              <a:endParaRPr lang="en-US" sz="2000" dirty="0"/>
            </a:p>
          </p:txBody>
        </p:sp>
        <p:sp>
          <p:nvSpPr>
            <p:cNvPr id="58" name="Shape 56"/>
            <p:cNvSpPr/>
            <p:nvPr/>
          </p:nvSpPr>
          <p:spPr>
            <a:xfrm>
              <a:off x="4352544"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59" name="Text 57"/>
            <p:cNvSpPr/>
            <p:nvPr/>
          </p:nvSpPr>
          <p:spPr>
            <a:xfrm>
              <a:off x="4352544"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4</a:t>
              </a:r>
              <a:endParaRPr lang="en-US" sz="2000" dirty="0"/>
            </a:p>
          </p:txBody>
        </p:sp>
        <p:sp>
          <p:nvSpPr>
            <p:cNvPr id="60" name="Shape 58"/>
            <p:cNvSpPr/>
            <p:nvPr/>
          </p:nvSpPr>
          <p:spPr>
            <a:xfrm>
              <a:off x="5157216"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1" name="Text 59"/>
            <p:cNvSpPr/>
            <p:nvPr/>
          </p:nvSpPr>
          <p:spPr>
            <a:xfrm>
              <a:off x="5157216"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5</a:t>
              </a:r>
              <a:endParaRPr lang="en-US" sz="2000" dirty="0"/>
            </a:p>
          </p:txBody>
        </p:sp>
        <p:sp>
          <p:nvSpPr>
            <p:cNvPr id="62" name="Shape 60"/>
            <p:cNvSpPr/>
            <p:nvPr/>
          </p:nvSpPr>
          <p:spPr>
            <a:xfrm>
              <a:off x="5961888" y="5440680"/>
              <a:ext cx="658368" cy="658368"/>
            </a:xfrm>
            <a:prstGeom prst="roundRect">
              <a:avLst>
                <a:gd name="adj" fmla="val 11111"/>
              </a:avLst>
            </a:prstGeom>
            <a:solidFill>
              <a:srgbClr val="D4AF37"/>
            </a:solidFill>
            <a:ln w="15875">
              <a:solidFill>
                <a:srgbClr val="D4AF37"/>
              </a:solidFill>
              <a:prstDash val="solid"/>
            </a:ln>
            <a:effectLst>
              <a:outerShdw blurRad="76200" dist="25400" dir="5400000" algn="bl" rotWithShape="0">
                <a:srgbClr val="000000">
                  <a:alpha val="35000"/>
                </a:srgbClr>
              </a:outerShdw>
            </a:effectLst>
          </p:spPr>
          <p:txBody>
            <a:bodyPr/>
            <a:lstStyle/>
            <a:p>
              <a:endParaRPr lang="fr-MA"/>
            </a:p>
          </p:txBody>
        </p:sp>
        <p:sp>
          <p:nvSpPr>
            <p:cNvPr id="63" name="Text 61"/>
            <p:cNvSpPr/>
            <p:nvPr/>
          </p:nvSpPr>
          <p:spPr>
            <a:xfrm>
              <a:off x="5961888" y="5440680"/>
              <a:ext cx="658368" cy="658368"/>
            </a:xfrm>
            <a:prstGeom prst="rect">
              <a:avLst/>
            </a:prstGeom>
            <a:noFill/>
            <a:ln/>
          </p:spPr>
          <p:txBody>
            <a:bodyPr wrap="square" lIns="0" tIns="0" rIns="0" bIns="0" rtlCol="0" anchor="ctr"/>
            <a:lstStyle/>
            <a:p>
              <a:pPr marL="0" indent="0" algn="ctr">
                <a:buNone/>
              </a:pPr>
              <a:r>
                <a:rPr lang="en-US" sz="2000" b="1" dirty="0">
                  <a:solidFill>
                    <a:srgbClr val="0A1930"/>
                  </a:solidFill>
                  <a:latin typeface="Calibri" pitchFamily="34" charset="0"/>
                  <a:ea typeface="Calibri" pitchFamily="34" charset="-122"/>
                  <a:cs typeface="Calibri" pitchFamily="34" charset="-120"/>
                </a:rPr>
                <a:t>8</a:t>
              </a:r>
              <a:endParaRPr lang="en-US" sz="2000" dirty="0"/>
            </a:p>
          </p:txBody>
        </p:sp>
      </p:grpSp>
      <p:sp>
        <p:nvSpPr>
          <p:cNvPr id="64" name="Shape 62"/>
          <p:cNvSpPr/>
          <p:nvPr/>
        </p:nvSpPr>
        <p:spPr>
          <a:xfrm>
            <a:off x="8229600" y="6080760"/>
            <a:ext cx="292608" cy="292608"/>
          </a:xfrm>
          <a:prstGeom prst="roundRect">
            <a:avLst>
              <a:gd name="adj" fmla="val 18750"/>
            </a:avLst>
          </a:prstGeom>
          <a:solidFill>
            <a:srgbClr val="D4AF37"/>
          </a:solidFill>
          <a:ln/>
        </p:spPr>
        <p:txBody>
          <a:bodyPr/>
          <a:lstStyle/>
          <a:p>
            <a:endParaRPr lang="fr-MA"/>
          </a:p>
        </p:txBody>
      </p:sp>
      <p:sp>
        <p:nvSpPr>
          <p:cNvPr id="65" name="Text 63"/>
          <p:cNvSpPr/>
          <p:nvPr/>
        </p:nvSpPr>
        <p:spPr>
          <a:xfrm>
            <a:off x="8595360" y="6053328"/>
            <a:ext cx="182880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Sorted portion (grows left)</a:t>
            </a:r>
            <a:endParaRPr lang="en-US" sz="1100" dirty="0"/>
          </a:p>
        </p:txBody>
      </p:sp>
      <p:sp>
        <p:nvSpPr>
          <p:cNvPr id="66" name="Shape 64"/>
          <p:cNvSpPr/>
          <p:nvPr/>
        </p:nvSpPr>
        <p:spPr>
          <a:xfrm>
            <a:off x="10195560" y="6080760"/>
            <a:ext cx="292608" cy="292608"/>
          </a:xfrm>
          <a:prstGeom prst="roundRect">
            <a:avLst>
              <a:gd name="adj" fmla="val 18750"/>
            </a:avLst>
          </a:prstGeom>
          <a:solidFill>
            <a:srgbClr val="132A4E"/>
          </a:solidFill>
          <a:ln w="15875">
            <a:solidFill>
              <a:srgbClr val="24406E"/>
            </a:solidFill>
            <a:prstDash val="solid"/>
          </a:ln>
        </p:spPr>
        <p:txBody>
          <a:bodyPr/>
          <a:lstStyle/>
          <a:p>
            <a:endParaRPr lang="fr-MA"/>
          </a:p>
        </p:txBody>
      </p:sp>
      <p:sp>
        <p:nvSpPr>
          <p:cNvPr id="67" name="Text 65"/>
          <p:cNvSpPr/>
          <p:nvPr/>
        </p:nvSpPr>
        <p:spPr>
          <a:xfrm>
            <a:off x="10561320" y="6053328"/>
            <a:ext cx="1463040" cy="347472"/>
          </a:xfrm>
          <a:prstGeom prst="rect">
            <a:avLst/>
          </a:prstGeom>
          <a:noFill/>
          <a:ln/>
        </p:spPr>
        <p:txBody>
          <a:bodyPr wrap="square" lIns="0" tIns="0" rIns="0" bIns="0" rtlCol="0" anchor="ctr"/>
          <a:lstStyle/>
          <a:p>
            <a:pPr marL="0" indent="0" algn="l">
              <a:buNone/>
            </a:pPr>
            <a:r>
              <a:rPr lang="en-US" sz="1100" dirty="0">
                <a:solidFill>
                  <a:srgbClr val="9FB3CF"/>
                </a:solidFill>
                <a:latin typeface="Calibri" pitchFamily="34" charset="0"/>
                <a:ea typeface="Calibri" pitchFamily="34" charset="-122"/>
                <a:cs typeface="Calibri" pitchFamily="34" charset="-120"/>
              </a:rPr>
              <a:t>Not yet inserted</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04</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Binary Search — Definition</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7" name="Text 5"/>
          <p:cNvSpPr/>
          <p:nvPr/>
        </p:nvSpPr>
        <p:spPr>
          <a:xfrm>
            <a:off x="640080" y="1828800"/>
            <a:ext cx="6309360" cy="1737360"/>
          </a:xfrm>
          <a:prstGeom prst="rect">
            <a:avLst/>
          </a:prstGeom>
          <a:noFill/>
          <a:ln/>
        </p:spPr>
        <p:txBody>
          <a:bodyPr wrap="square" lIns="0" tIns="0" rIns="0" bIns="0" rtlCol="0" anchor="t"/>
          <a:lstStyle/>
          <a:p>
            <a:pPr marL="0" indent="0" algn="l">
              <a:lnSpc>
                <a:spcPct val="128000"/>
              </a:lnSpc>
              <a:buNone/>
            </a:pPr>
            <a:r>
              <a:rPr lang="en-US" sz="1650" dirty="0">
                <a:solidFill>
                  <a:srgbClr val="FFFFFF"/>
                </a:solidFill>
                <a:latin typeface="Calibri" pitchFamily="34" charset="0"/>
                <a:ea typeface="Calibri" pitchFamily="34" charset="-122"/>
                <a:cs typeface="Calibri" pitchFamily="34" charset="-120"/>
              </a:rPr>
              <a:t>Binary Search (or Dichotomous Search) finds a target value in a sorted array by repeatedly splitting the search range in half, discarding the half that cannot contain the target.</a:t>
            </a:r>
            <a:endParaRPr lang="en-US" sz="1650" dirty="0"/>
          </a:p>
        </p:txBody>
      </p:sp>
      <p:grpSp>
        <p:nvGrpSpPr>
          <p:cNvPr id="40" name="Groupe 39">
            <a:extLst>
              <a:ext uri="{FF2B5EF4-FFF2-40B4-BE49-F238E27FC236}">
                <a16:creationId xmlns:a16="http://schemas.microsoft.com/office/drawing/2014/main" id="{5E0AD1FE-7D09-7DA5-24FA-A0DB11DEABFE}"/>
              </a:ext>
            </a:extLst>
          </p:cNvPr>
          <p:cNvGrpSpPr/>
          <p:nvPr/>
        </p:nvGrpSpPr>
        <p:grpSpPr>
          <a:xfrm>
            <a:off x="640080" y="3044952"/>
            <a:ext cx="6263640" cy="2587752"/>
            <a:chOff x="640080" y="3657600"/>
            <a:chExt cx="6263640" cy="2587752"/>
          </a:xfrm>
        </p:grpSpPr>
        <p:sp>
          <p:nvSpPr>
            <p:cNvPr id="8" name="Text 6"/>
            <p:cNvSpPr/>
            <p:nvPr/>
          </p:nvSpPr>
          <p:spPr>
            <a:xfrm>
              <a:off x="640080" y="3657600"/>
              <a:ext cx="4572000" cy="274320"/>
            </a:xfrm>
            <a:prstGeom prst="rect">
              <a:avLst/>
            </a:prstGeom>
            <a:noFill/>
            <a:ln/>
          </p:spPr>
          <p:txBody>
            <a:bodyPr wrap="square" lIns="0" tIns="0" rIns="0" bIns="0" rtlCol="0" anchor="ctr"/>
            <a:lstStyle/>
            <a:p>
              <a:pPr marL="0" indent="0" algn="l">
                <a:buNone/>
              </a:pPr>
              <a:r>
                <a:rPr lang="en-US" sz="1150" b="1" kern="0" spc="200" dirty="0">
                  <a:solidFill>
                    <a:srgbClr val="D4AF37"/>
                  </a:solidFill>
                  <a:latin typeface="Calibri" pitchFamily="34" charset="0"/>
                  <a:ea typeface="Calibri" pitchFamily="34" charset="-122"/>
                  <a:cs typeface="Calibri" pitchFamily="34" charset="-120"/>
                </a:rPr>
                <a:t>HOW IT WORKS</a:t>
              </a:r>
              <a:endParaRPr lang="en-US" sz="1150" dirty="0"/>
            </a:p>
          </p:txBody>
        </p:sp>
        <p:sp>
          <p:nvSpPr>
            <p:cNvPr id="9" name="Shape 7"/>
            <p:cNvSpPr/>
            <p:nvPr/>
          </p:nvSpPr>
          <p:spPr>
            <a:xfrm>
              <a:off x="676656" y="3986784"/>
              <a:ext cx="384048" cy="384048"/>
            </a:xfrm>
            <a:prstGeom prst="ellipse">
              <a:avLst/>
            </a:prstGeom>
            <a:solidFill>
              <a:srgbClr val="132A4E"/>
            </a:solidFill>
            <a:ln w="22225">
              <a:solidFill>
                <a:srgbClr val="D4AF37"/>
              </a:solidFill>
              <a:prstDash val="solid"/>
            </a:ln>
          </p:spPr>
          <p:txBody>
            <a:bodyPr/>
            <a:lstStyle/>
            <a:p>
              <a:endParaRPr lang="fr-MA"/>
            </a:p>
          </p:txBody>
        </p:sp>
        <p:sp>
          <p:nvSpPr>
            <p:cNvPr id="10" name="Text 8"/>
            <p:cNvSpPr/>
            <p:nvPr/>
          </p:nvSpPr>
          <p:spPr>
            <a:xfrm>
              <a:off x="676656" y="3986784"/>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1</a:t>
              </a:r>
              <a:endParaRPr lang="en-US" sz="1300" dirty="0"/>
            </a:p>
          </p:txBody>
        </p:sp>
        <p:sp>
          <p:nvSpPr>
            <p:cNvPr id="11" name="Text 9"/>
            <p:cNvSpPr/>
            <p:nvPr/>
          </p:nvSpPr>
          <p:spPr>
            <a:xfrm>
              <a:off x="1234440" y="3977640"/>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Start with the full sorted array; set low and high bounds.</a:t>
              </a:r>
              <a:endParaRPr lang="en-US" sz="1250" dirty="0"/>
            </a:p>
          </p:txBody>
        </p:sp>
        <p:sp>
          <p:nvSpPr>
            <p:cNvPr id="12" name="Shape 10"/>
            <p:cNvSpPr/>
            <p:nvPr/>
          </p:nvSpPr>
          <p:spPr>
            <a:xfrm>
              <a:off x="676656" y="4553712"/>
              <a:ext cx="384048" cy="384048"/>
            </a:xfrm>
            <a:prstGeom prst="ellipse">
              <a:avLst/>
            </a:prstGeom>
            <a:solidFill>
              <a:srgbClr val="132A4E"/>
            </a:solidFill>
            <a:ln w="22225">
              <a:solidFill>
                <a:srgbClr val="D4AF37"/>
              </a:solidFill>
              <a:prstDash val="solid"/>
            </a:ln>
          </p:spPr>
          <p:txBody>
            <a:bodyPr/>
            <a:lstStyle/>
            <a:p>
              <a:endParaRPr lang="fr-MA"/>
            </a:p>
          </p:txBody>
        </p:sp>
        <p:sp>
          <p:nvSpPr>
            <p:cNvPr id="13" name="Text 11"/>
            <p:cNvSpPr/>
            <p:nvPr/>
          </p:nvSpPr>
          <p:spPr>
            <a:xfrm>
              <a:off x="676656" y="4553712"/>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1234440" y="4544568"/>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Compare the target to the middle element of the current range.</a:t>
              </a:r>
              <a:endParaRPr lang="en-US" sz="1250" dirty="0"/>
            </a:p>
          </p:txBody>
        </p:sp>
        <p:sp>
          <p:nvSpPr>
            <p:cNvPr id="15" name="Shape 13"/>
            <p:cNvSpPr/>
            <p:nvPr/>
          </p:nvSpPr>
          <p:spPr>
            <a:xfrm>
              <a:off x="676656" y="5120640"/>
              <a:ext cx="384048" cy="384048"/>
            </a:xfrm>
            <a:prstGeom prst="ellipse">
              <a:avLst/>
            </a:prstGeom>
            <a:solidFill>
              <a:srgbClr val="132A4E"/>
            </a:solidFill>
            <a:ln w="22225">
              <a:solidFill>
                <a:srgbClr val="D4AF37"/>
              </a:solidFill>
              <a:prstDash val="solid"/>
            </a:ln>
          </p:spPr>
          <p:txBody>
            <a:bodyPr/>
            <a:lstStyle/>
            <a:p>
              <a:endParaRPr lang="fr-MA"/>
            </a:p>
          </p:txBody>
        </p:sp>
        <p:sp>
          <p:nvSpPr>
            <p:cNvPr id="16" name="Text 14"/>
            <p:cNvSpPr/>
            <p:nvPr/>
          </p:nvSpPr>
          <p:spPr>
            <a:xfrm>
              <a:off x="676656" y="5120640"/>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34440" y="5111496"/>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If it matches, the search is done — otherwise keep the half that could contain it.</a:t>
              </a:r>
              <a:endParaRPr lang="en-US" sz="1250" dirty="0"/>
            </a:p>
          </p:txBody>
        </p:sp>
        <p:sp>
          <p:nvSpPr>
            <p:cNvPr id="18" name="Shape 16"/>
            <p:cNvSpPr/>
            <p:nvPr/>
          </p:nvSpPr>
          <p:spPr>
            <a:xfrm>
              <a:off x="676656" y="5687568"/>
              <a:ext cx="384048" cy="384048"/>
            </a:xfrm>
            <a:prstGeom prst="ellipse">
              <a:avLst/>
            </a:prstGeom>
            <a:solidFill>
              <a:srgbClr val="132A4E"/>
            </a:solidFill>
            <a:ln w="22225">
              <a:solidFill>
                <a:srgbClr val="D4AF37"/>
              </a:solidFill>
              <a:prstDash val="solid"/>
            </a:ln>
          </p:spPr>
          <p:txBody>
            <a:bodyPr/>
            <a:lstStyle/>
            <a:p>
              <a:endParaRPr lang="fr-MA"/>
            </a:p>
          </p:txBody>
        </p:sp>
        <p:sp>
          <p:nvSpPr>
            <p:cNvPr id="19" name="Text 17"/>
            <p:cNvSpPr/>
            <p:nvPr/>
          </p:nvSpPr>
          <p:spPr>
            <a:xfrm>
              <a:off x="676656" y="5687568"/>
              <a:ext cx="384048" cy="384048"/>
            </a:xfrm>
            <a:prstGeom prst="rect">
              <a:avLst/>
            </a:prstGeom>
            <a:noFill/>
            <a:ln/>
          </p:spPr>
          <p:txBody>
            <a:bodyPr wrap="square" lIns="0" tIns="0" rIns="0" bIns="0" rtlCol="0" anchor="ctr"/>
            <a:lstStyle/>
            <a:p>
              <a:pPr marL="0" indent="0" algn="ctr">
                <a:buNone/>
              </a:pPr>
              <a:r>
                <a:rPr lang="en-US" sz="1300" b="1" dirty="0">
                  <a:solidFill>
                    <a:srgbClr val="D4AF37"/>
                  </a:solidFill>
                  <a:latin typeface="Cambria" pitchFamily="34" charset="0"/>
                  <a:ea typeface="Cambria" pitchFamily="34" charset="-122"/>
                  <a:cs typeface="Cambria" pitchFamily="34" charset="-120"/>
                </a:rPr>
                <a:t>4</a:t>
              </a:r>
              <a:endParaRPr lang="en-US" sz="1300" dirty="0"/>
            </a:p>
          </p:txBody>
        </p:sp>
        <p:sp>
          <p:nvSpPr>
            <p:cNvPr id="20" name="Text 18"/>
            <p:cNvSpPr/>
            <p:nvPr/>
          </p:nvSpPr>
          <p:spPr>
            <a:xfrm>
              <a:off x="1234440" y="5678424"/>
              <a:ext cx="5669280" cy="566928"/>
            </a:xfrm>
            <a:prstGeom prst="rect">
              <a:avLst/>
            </a:prstGeom>
            <a:noFill/>
            <a:ln/>
          </p:spPr>
          <p:txBody>
            <a:bodyPr wrap="square" lIns="0" tIns="0" rIns="0" bIns="0" rtlCol="0" anchor="ctr"/>
            <a:lstStyle/>
            <a:p>
              <a:pPr marL="0" indent="0" algn="l">
                <a:buNone/>
              </a:pPr>
              <a:r>
                <a:rPr lang="en-US" sz="1250" dirty="0">
                  <a:solidFill>
                    <a:srgbClr val="9FB3CF"/>
                  </a:solidFill>
                  <a:latin typeface="Calibri" pitchFamily="34" charset="0"/>
                  <a:ea typeface="Calibri" pitchFamily="34" charset="-122"/>
                  <a:cs typeface="Calibri" pitchFamily="34" charset="-120"/>
                </a:rPr>
                <a:t>Repeat on the smaller range until the target is found or the range is empty.</a:t>
              </a:r>
              <a:endParaRPr lang="en-US" sz="1250" dirty="0"/>
            </a:p>
          </p:txBody>
        </p:sp>
      </p:grpSp>
      <p:sp>
        <p:nvSpPr>
          <p:cNvPr id="41" name="Rectangle 40">
            <a:extLst>
              <a:ext uri="{FF2B5EF4-FFF2-40B4-BE49-F238E27FC236}">
                <a16:creationId xmlns:a16="http://schemas.microsoft.com/office/drawing/2014/main" id="{A161B8C9-A6BF-E964-9274-AD00A6CFB167}"/>
              </a:ext>
            </a:extLst>
          </p:cNvPr>
          <p:cNvSpPr/>
          <p:nvPr/>
        </p:nvSpPr>
        <p:spPr>
          <a:xfrm>
            <a:off x="6949439" y="0"/>
            <a:ext cx="5242255" cy="68580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10</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640080" y="457200"/>
            <a:ext cx="10911535" cy="320040"/>
          </a:xfrm>
          <a:prstGeom prst="rect">
            <a:avLst/>
          </a:prstGeom>
          <a:noFill/>
          <a:ln/>
        </p:spPr>
        <p:txBody>
          <a:bodyPr wrap="square" lIns="0" tIns="0" rIns="0" bIns="0" rtlCol="0" anchor="ctr"/>
          <a:lstStyle/>
          <a:p>
            <a:pPr marL="0" indent="0" algn="l">
              <a:buNone/>
            </a:pPr>
            <a:r>
              <a:rPr lang="en-US" sz="1300" b="1" kern="0" spc="300" dirty="0">
                <a:solidFill>
                  <a:srgbClr val="D4AF37"/>
                </a:solidFill>
                <a:latin typeface="Calibri" pitchFamily="34" charset="0"/>
                <a:ea typeface="Calibri" pitchFamily="34" charset="-122"/>
                <a:cs typeface="Calibri" pitchFamily="34" charset="-120"/>
              </a:rPr>
              <a:t>ALGORITHM 04 — IN ACTION</a:t>
            </a:r>
            <a:endParaRPr lang="en-US" sz="1300" dirty="0"/>
          </a:p>
        </p:txBody>
      </p:sp>
      <p:sp>
        <p:nvSpPr>
          <p:cNvPr id="4" name="Text 2"/>
          <p:cNvSpPr/>
          <p:nvPr/>
        </p:nvSpPr>
        <p:spPr>
          <a:xfrm>
            <a:off x="640080" y="749808"/>
            <a:ext cx="10911535" cy="77724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Visualizing Binary Search</a:t>
            </a:r>
            <a:endParaRPr lang="en-US" sz="3400" dirty="0"/>
          </a:p>
        </p:txBody>
      </p:sp>
      <p:sp>
        <p:nvSpPr>
          <p:cNvPr id="5" name="Text 3"/>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6" name="Text 4"/>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11</a:t>
            </a:r>
            <a:endParaRPr lang="en-US" sz="1000" dirty="0"/>
          </a:p>
        </p:txBody>
      </p:sp>
      <p:sp>
        <p:nvSpPr>
          <p:cNvPr id="7" name="Text 5"/>
          <p:cNvSpPr/>
          <p:nvPr/>
        </p:nvSpPr>
        <p:spPr>
          <a:xfrm>
            <a:off x="640080" y="1783080"/>
            <a:ext cx="1828800" cy="340157"/>
          </a:xfrm>
          <a:prstGeom prst="rect">
            <a:avLst/>
          </a:prstGeom>
          <a:noFill/>
          <a:ln/>
        </p:spPr>
        <p:txBody>
          <a:bodyPr wrap="square" lIns="0" tIns="0" rIns="0" bIns="0" rtlCol="0" anchor="b"/>
          <a:lstStyle/>
          <a:p>
            <a:pPr marL="0" indent="0" algn="l">
              <a:buNone/>
            </a:pPr>
            <a:r>
              <a:rPr lang="en-US" sz="1500" b="1" dirty="0">
                <a:solidFill>
                  <a:srgbClr val="FFFFFF"/>
                </a:solidFill>
                <a:latin typeface="Calibri" pitchFamily="34" charset="0"/>
                <a:ea typeface="Calibri" pitchFamily="34" charset="-122"/>
                <a:cs typeface="Calibri" pitchFamily="34" charset="-120"/>
              </a:rPr>
              <a:t>Step 1</a:t>
            </a:r>
            <a:endParaRPr lang="en-US" sz="1500" dirty="0"/>
          </a:p>
        </p:txBody>
      </p:sp>
      <p:sp>
        <p:nvSpPr>
          <p:cNvPr id="8" name="Text 6"/>
          <p:cNvSpPr/>
          <p:nvPr/>
        </p:nvSpPr>
        <p:spPr>
          <a:xfrm>
            <a:off x="640080" y="2094890"/>
            <a:ext cx="2103120" cy="226771"/>
          </a:xfrm>
          <a:prstGeom prst="rect">
            <a:avLst/>
          </a:prstGeom>
          <a:noFill/>
          <a:ln/>
        </p:spPr>
        <p:txBody>
          <a:bodyPr wrap="square" lIns="0" tIns="0" rIns="0" bIns="0" rtlCol="0" anchor="t"/>
          <a:lstStyle/>
          <a:p>
            <a:pPr marL="0" indent="0" algn="l">
              <a:buNone/>
            </a:pPr>
            <a:r>
              <a:rPr lang="en-US" sz="1050" dirty="0">
                <a:solidFill>
                  <a:srgbClr val="9FB3CF"/>
                </a:solidFill>
                <a:latin typeface="Calibri" pitchFamily="34" charset="0"/>
                <a:ea typeface="Calibri" pitchFamily="34" charset="-122"/>
                <a:cs typeface="Calibri" pitchFamily="34" charset="-120"/>
              </a:rPr>
              <a:t>compare with 9</a:t>
            </a:r>
            <a:endParaRPr lang="en-US" sz="1050" dirty="0"/>
          </a:p>
        </p:txBody>
      </p:sp>
      <p:sp>
        <p:nvSpPr>
          <p:cNvPr id="9" name="Shape 7"/>
          <p:cNvSpPr/>
          <p:nvPr/>
        </p:nvSpPr>
        <p:spPr>
          <a:xfrm>
            <a:off x="2743200"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0" name="Text 8"/>
          <p:cNvSpPr/>
          <p:nvPr/>
        </p:nvSpPr>
        <p:spPr>
          <a:xfrm>
            <a:off x="2743200"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9"/>
          <p:cNvSpPr/>
          <p:nvPr/>
        </p:nvSpPr>
        <p:spPr>
          <a:xfrm>
            <a:off x="3438144"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2" name="Text 10"/>
          <p:cNvSpPr/>
          <p:nvPr/>
        </p:nvSpPr>
        <p:spPr>
          <a:xfrm>
            <a:off x="3438144"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Shape 11"/>
          <p:cNvSpPr/>
          <p:nvPr/>
        </p:nvSpPr>
        <p:spPr>
          <a:xfrm>
            <a:off x="4133088"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4" name="Text 12"/>
          <p:cNvSpPr/>
          <p:nvPr/>
        </p:nvSpPr>
        <p:spPr>
          <a:xfrm>
            <a:off x="4133088"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5" name="Shape 13"/>
          <p:cNvSpPr/>
          <p:nvPr/>
        </p:nvSpPr>
        <p:spPr>
          <a:xfrm>
            <a:off x="4828032"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16" name="Text 14"/>
          <p:cNvSpPr/>
          <p:nvPr/>
        </p:nvSpPr>
        <p:spPr>
          <a:xfrm>
            <a:off x="4828032"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17" name="Shape 15"/>
          <p:cNvSpPr/>
          <p:nvPr/>
        </p:nvSpPr>
        <p:spPr>
          <a:xfrm>
            <a:off x="5522976" y="1783080"/>
            <a:ext cx="566928" cy="566928"/>
          </a:xfrm>
          <a:prstGeom prst="roundRect">
            <a:avLst>
              <a:gd name="adj" fmla="val 12903"/>
            </a:avLst>
          </a:prstGeom>
          <a:solidFill>
            <a:srgbClr val="132A4E"/>
          </a:solidFill>
          <a:ln w="28575">
            <a:solidFill>
              <a:srgbClr val="D4AF37"/>
            </a:solidFill>
            <a:prstDash val="solid"/>
          </a:ln>
        </p:spPr>
        <p:txBody>
          <a:bodyPr/>
          <a:lstStyle/>
          <a:p>
            <a:endParaRPr lang="fr-MA"/>
          </a:p>
        </p:txBody>
      </p:sp>
      <p:sp>
        <p:nvSpPr>
          <p:cNvPr id="18" name="Text 16"/>
          <p:cNvSpPr/>
          <p:nvPr/>
        </p:nvSpPr>
        <p:spPr>
          <a:xfrm>
            <a:off x="5522976" y="1783080"/>
            <a:ext cx="566928" cy="566928"/>
          </a:xfrm>
          <a:prstGeom prst="rect">
            <a:avLst/>
          </a:prstGeom>
          <a:noFill/>
          <a:ln/>
        </p:spPr>
        <p:txBody>
          <a:bodyPr wrap="square" lIns="0" tIns="0" rIns="0" bIns="0" rtlCol="0" anchor="ctr"/>
          <a:lstStyle/>
          <a:p>
            <a:pPr marL="0" indent="0" algn="ctr">
              <a:buNone/>
            </a:pPr>
            <a:r>
              <a:rPr lang="en-US" sz="1600" b="1" dirty="0">
                <a:solidFill>
                  <a:srgbClr val="E9CE72"/>
                </a:solidFill>
                <a:latin typeface="Calibri" pitchFamily="34" charset="0"/>
                <a:ea typeface="Calibri" pitchFamily="34" charset="-122"/>
                <a:cs typeface="Calibri" pitchFamily="34" charset="-120"/>
              </a:rPr>
              <a:t>9</a:t>
            </a:r>
            <a:endParaRPr lang="en-US" sz="1600" dirty="0"/>
          </a:p>
        </p:txBody>
      </p:sp>
      <p:sp>
        <p:nvSpPr>
          <p:cNvPr id="19" name="Shape 17"/>
          <p:cNvSpPr/>
          <p:nvPr/>
        </p:nvSpPr>
        <p:spPr>
          <a:xfrm>
            <a:off x="6217920"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20" name="Text 18"/>
          <p:cNvSpPr/>
          <p:nvPr/>
        </p:nvSpPr>
        <p:spPr>
          <a:xfrm>
            <a:off x="6217920"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21" name="Shape 19"/>
          <p:cNvSpPr/>
          <p:nvPr/>
        </p:nvSpPr>
        <p:spPr>
          <a:xfrm>
            <a:off x="6912864"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22" name="Text 20"/>
          <p:cNvSpPr/>
          <p:nvPr/>
        </p:nvSpPr>
        <p:spPr>
          <a:xfrm>
            <a:off x="6912864"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23" name="Shape 21"/>
          <p:cNvSpPr/>
          <p:nvPr/>
        </p:nvSpPr>
        <p:spPr>
          <a:xfrm>
            <a:off x="7607808"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24" name="Text 22"/>
          <p:cNvSpPr/>
          <p:nvPr/>
        </p:nvSpPr>
        <p:spPr>
          <a:xfrm>
            <a:off x="7607808"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25" name="Shape 23"/>
          <p:cNvSpPr/>
          <p:nvPr/>
        </p:nvSpPr>
        <p:spPr>
          <a:xfrm>
            <a:off x="8302752" y="178308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26" name="Text 24"/>
          <p:cNvSpPr/>
          <p:nvPr/>
        </p:nvSpPr>
        <p:spPr>
          <a:xfrm>
            <a:off x="8302752" y="178308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27" name="Text 25"/>
          <p:cNvSpPr/>
          <p:nvPr/>
        </p:nvSpPr>
        <p:spPr>
          <a:xfrm>
            <a:off x="9189720" y="1783080"/>
            <a:ext cx="2743200" cy="566928"/>
          </a:xfrm>
          <a:prstGeom prst="rect">
            <a:avLst/>
          </a:prstGeom>
          <a:noFill/>
          <a:ln/>
        </p:spPr>
        <p:txBody>
          <a:bodyPr wrap="square" lIns="0" tIns="0" rIns="0" bIns="0" rtlCol="0" anchor="ctr"/>
          <a:lstStyle/>
          <a:p>
            <a:pPr marL="0" indent="0" algn="l">
              <a:buNone/>
            </a:pPr>
            <a:r>
              <a:rPr lang="en-US" sz="1250" i="1" dirty="0">
                <a:solidFill>
                  <a:srgbClr val="9FB3CF"/>
                </a:solidFill>
                <a:latin typeface="Calibri" pitchFamily="34" charset="0"/>
                <a:ea typeface="Calibri" pitchFamily="34" charset="-122"/>
                <a:cs typeface="Calibri" pitchFamily="34" charset="-120"/>
              </a:rPr>
              <a:t>15 &gt; 9 → search right half</a:t>
            </a:r>
            <a:endParaRPr lang="en-US" sz="1250" dirty="0"/>
          </a:p>
        </p:txBody>
      </p:sp>
      <p:sp>
        <p:nvSpPr>
          <p:cNvPr id="28" name="Text 26"/>
          <p:cNvSpPr/>
          <p:nvPr/>
        </p:nvSpPr>
        <p:spPr>
          <a:xfrm>
            <a:off x="640080" y="2834640"/>
            <a:ext cx="1828800" cy="340157"/>
          </a:xfrm>
          <a:prstGeom prst="rect">
            <a:avLst/>
          </a:prstGeom>
          <a:noFill/>
          <a:ln/>
        </p:spPr>
        <p:txBody>
          <a:bodyPr wrap="square" lIns="0" tIns="0" rIns="0" bIns="0" rtlCol="0" anchor="b"/>
          <a:lstStyle/>
          <a:p>
            <a:pPr marL="0" indent="0" algn="l">
              <a:buNone/>
            </a:pPr>
            <a:r>
              <a:rPr lang="en-US" sz="1500" b="1" dirty="0">
                <a:solidFill>
                  <a:srgbClr val="FFFFFF"/>
                </a:solidFill>
                <a:latin typeface="Calibri" pitchFamily="34" charset="0"/>
                <a:ea typeface="Calibri" pitchFamily="34" charset="-122"/>
                <a:cs typeface="Calibri" pitchFamily="34" charset="-120"/>
              </a:rPr>
              <a:t>Step 2</a:t>
            </a:r>
            <a:endParaRPr lang="en-US" sz="1500" dirty="0"/>
          </a:p>
        </p:txBody>
      </p:sp>
      <p:sp>
        <p:nvSpPr>
          <p:cNvPr id="29" name="Text 27"/>
          <p:cNvSpPr/>
          <p:nvPr/>
        </p:nvSpPr>
        <p:spPr>
          <a:xfrm>
            <a:off x="640080" y="3146450"/>
            <a:ext cx="2103120" cy="226771"/>
          </a:xfrm>
          <a:prstGeom prst="rect">
            <a:avLst/>
          </a:prstGeom>
          <a:noFill/>
          <a:ln/>
        </p:spPr>
        <p:txBody>
          <a:bodyPr wrap="square" lIns="0" tIns="0" rIns="0" bIns="0" rtlCol="0" anchor="t"/>
          <a:lstStyle/>
          <a:p>
            <a:pPr marL="0" indent="0" algn="l">
              <a:buNone/>
            </a:pPr>
            <a:r>
              <a:rPr lang="en-US" sz="1050" dirty="0">
                <a:solidFill>
                  <a:srgbClr val="9FB3CF"/>
                </a:solidFill>
                <a:latin typeface="Calibri" pitchFamily="34" charset="0"/>
                <a:ea typeface="Calibri" pitchFamily="34" charset="-122"/>
                <a:cs typeface="Calibri" pitchFamily="34" charset="-120"/>
              </a:rPr>
              <a:t>compare with 13</a:t>
            </a:r>
            <a:endParaRPr lang="en-US" sz="1050" dirty="0"/>
          </a:p>
        </p:txBody>
      </p:sp>
      <p:sp>
        <p:nvSpPr>
          <p:cNvPr id="30" name="Shape 28"/>
          <p:cNvSpPr/>
          <p:nvPr/>
        </p:nvSpPr>
        <p:spPr>
          <a:xfrm>
            <a:off x="2743200" y="283464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31" name="Text 29"/>
          <p:cNvSpPr/>
          <p:nvPr/>
        </p:nvSpPr>
        <p:spPr>
          <a:xfrm>
            <a:off x="2743200" y="283464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1</a:t>
            </a:r>
            <a:endParaRPr lang="en-US" sz="1600" dirty="0"/>
          </a:p>
        </p:txBody>
      </p:sp>
      <p:sp>
        <p:nvSpPr>
          <p:cNvPr id="32" name="Shape 30"/>
          <p:cNvSpPr/>
          <p:nvPr/>
        </p:nvSpPr>
        <p:spPr>
          <a:xfrm>
            <a:off x="3438144" y="283464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33" name="Text 31"/>
          <p:cNvSpPr/>
          <p:nvPr/>
        </p:nvSpPr>
        <p:spPr>
          <a:xfrm>
            <a:off x="3438144" y="283464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3</a:t>
            </a:r>
            <a:endParaRPr lang="en-US" sz="1600" dirty="0"/>
          </a:p>
        </p:txBody>
      </p:sp>
      <p:sp>
        <p:nvSpPr>
          <p:cNvPr id="34" name="Shape 32"/>
          <p:cNvSpPr/>
          <p:nvPr/>
        </p:nvSpPr>
        <p:spPr>
          <a:xfrm>
            <a:off x="4133088" y="283464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35" name="Text 33"/>
          <p:cNvSpPr/>
          <p:nvPr/>
        </p:nvSpPr>
        <p:spPr>
          <a:xfrm>
            <a:off x="4133088" y="283464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5</a:t>
            </a:r>
            <a:endParaRPr lang="en-US" sz="1600" dirty="0"/>
          </a:p>
        </p:txBody>
      </p:sp>
      <p:sp>
        <p:nvSpPr>
          <p:cNvPr id="36" name="Shape 34"/>
          <p:cNvSpPr/>
          <p:nvPr/>
        </p:nvSpPr>
        <p:spPr>
          <a:xfrm>
            <a:off x="4828032" y="283464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37" name="Text 35"/>
          <p:cNvSpPr/>
          <p:nvPr/>
        </p:nvSpPr>
        <p:spPr>
          <a:xfrm>
            <a:off x="4828032" y="283464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7</a:t>
            </a:r>
            <a:endParaRPr lang="en-US" sz="1600" dirty="0"/>
          </a:p>
        </p:txBody>
      </p:sp>
      <p:sp>
        <p:nvSpPr>
          <p:cNvPr id="38" name="Shape 36"/>
          <p:cNvSpPr/>
          <p:nvPr/>
        </p:nvSpPr>
        <p:spPr>
          <a:xfrm>
            <a:off x="5522976" y="283464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39" name="Text 37"/>
          <p:cNvSpPr/>
          <p:nvPr/>
        </p:nvSpPr>
        <p:spPr>
          <a:xfrm>
            <a:off x="5522976" y="283464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9</a:t>
            </a:r>
            <a:endParaRPr lang="en-US" sz="1600" dirty="0"/>
          </a:p>
        </p:txBody>
      </p:sp>
      <p:sp>
        <p:nvSpPr>
          <p:cNvPr id="40" name="Shape 38"/>
          <p:cNvSpPr/>
          <p:nvPr/>
        </p:nvSpPr>
        <p:spPr>
          <a:xfrm>
            <a:off x="6217920" y="283464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41" name="Text 39"/>
          <p:cNvSpPr/>
          <p:nvPr/>
        </p:nvSpPr>
        <p:spPr>
          <a:xfrm>
            <a:off x="6217920" y="283464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2" name="Shape 40"/>
          <p:cNvSpPr/>
          <p:nvPr/>
        </p:nvSpPr>
        <p:spPr>
          <a:xfrm>
            <a:off x="6912864" y="2834640"/>
            <a:ext cx="566928" cy="566928"/>
          </a:xfrm>
          <a:prstGeom prst="roundRect">
            <a:avLst>
              <a:gd name="adj" fmla="val 12903"/>
            </a:avLst>
          </a:prstGeom>
          <a:solidFill>
            <a:srgbClr val="132A4E"/>
          </a:solidFill>
          <a:ln w="28575">
            <a:solidFill>
              <a:srgbClr val="D4AF37"/>
            </a:solidFill>
            <a:prstDash val="solid"/>
          </a:ln>
        </p:spPr>
        <p:txBody>
          <a:bodyPr/>
          <a:lstStyle/>
          <a:p>
            <a:endParaRPr lang="fr-MA"/>
          </a:p>
        </p:txBody>
      </p:sp>
      <p:sp>
        <p:nvSpPr>
          <p:cNvPr id="43" name="Text 41"/>
          <p:cNvSpPr/>
          <p:nvPr/>
        </p:nvSpPr>
        <p:spPr>
          <a:xfrm>
            <a:off x="6912864" y="2834640"/>
            <a:ext cx="566928" cy="566928"/>
          </a:xfrm>
          <a:prstGeom prst="rect">
            <a:avLst/>
          </a:prstGeom>
          <a:noFill/>
          <a:ln/>
        </p:spPr>
        <p:txBody>
          <a:bodyPr wrap="square" lIns="0" tIns="0" rIns="0" bIns="0" rtlCol="0" anchor="ctr"/>
          <a:lstStyle/>
          <a:p>
            <a:pPr marL="0" indent="0" algn="ctr">
              <a:buNone/>
            </a:pPr>
            <a:r>
              <a:rPr lang="en-US" sz="1600" b="1" dirty="0">
                <a:solidFill>
                  <a:srgbClr val="E9CE72"/>
                </a:solidFill>
                <a:latin typeface="Calibri" pitchFamily="34" charset="0"/>
                <a:ea typeface="Calibri" pitchFamily="34" charset="-122"/>
                <a:cs typeface="Calibri" pitchFamily="34" charset="-120"/>
              </a:rPr>
              <a:t>13</a:t>
            </a:r>
            <a:endParaRPr lang="en-US" sz="1600" dirty="0"/>
          </a:p>
        </p:txBody>
      </p:sp>
      <p:sp>
        <p:nvSpPr>
          <p:cNvPr id="44" name="Shape 42"/>
          <p:cNvSpPr/>
          <p:nvPr/>
        </p:nvSpPr>
        <p:spPr>
          <a:xfrm>
            <a:off x="7607808" y="283464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45" name="Text 43"/>
          <p:cNvSpPr/>
          <p:nvPr/>
        </p:nvSpPr>
        <p:spPr>
          <a:xfrm>
            <a:off x="7607808" y="283464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46" name="Shape 44"/>
          <p:cNvSpPr/>
          <p:nvPr/>
        </p:nvSpPr>
        <p:spPr>
          <a:xfrm>
            <a:off x="8302752" y="283464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47" name="Text 45"/>
          <p:cNvSpPr/>
          <p:nvPr/>
        </p:nvSpPr>
        <p:spPr>
          <a:xfrm>
            <a:off x="8302752" y="283464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48" name="Text 46"/>
          <p:cNvSpPr/>
          <p:nvPr/>
        </p:nvSpPr>
        <p:spPr>
          <a:xfrm>
            <a:off x="9189720" y="2834640"/>
            <a:ext cx="2743200" cy="566928"/>
          </a:xfrm>
          <a:prstGeom prst="rect">
            <a:avLst/>
          </a:prstGeom>
          <a:noFill/>
          <a:ln/>
        </p:spPr>
        <p:txBody>
          <a:bodyPr wrap="square" lIns="0" tIns="0" rIns="0" bIns="0" rtlCol="0" anchor="ctr"/>
          <a:lstStyle/>
          <a:p>
            <a:pPr marL="0" indent="0" algn="l">
              <a:buNone/>
            </a:pPr>
            <a:r>
              <a:rPr lang="en-US" sz="1250" i="1" dirty="0">
                <a:solidFill>
                  <a:srgbClr val="9FB3CF"/>
                </a:solidFill>
                <a:latin typeface="Calibri" pitchFamily="34" charset="0"/>
                <a:ea typeface="Calibri" pitchFamily="34" charset="-122"/>
                <a:cs typeface="Calibri" pitchFamily="34" charset="-120"/>
              </a:rPr>
              <a:t>15 &gt; 13 → search right half</a:t>
            </a:r>
            <a:endParaRPr lang="en-US" sz="1250" dirty="0"/>
          </a:p>
        </p:txBody>
      </p:sp>
      <p:sp>
        <p:nvSpPr>
          <p:cNvPr id="49" name="Text 47"/>
          <p:cNvSpPr/>
          <p:nvPr/>
        </p:nvSpPr>
        <p:spPr>
          <a:xfrm>
            <a:off x="640080" y="3886200"/>
            <a:ext cx="1828800" cy="340157"/>
          </a:xfrm>
          <a:prstGeom prst="rect">
            <a:avLst/>
          </a:prstGeom>
          <a:noFill/>
          <a:ln/>
        </p:spPr>
        <p:txBody>
          <a:bodyPr wrap="square" lIns="0" tIns="0" rIns="0" bIns="0" rtlCol="0" anchor="b"/>
          <a:lstStyle/>
          <a:p>
            <a:pPr marL="0" indent="0" algn="l">
              <a:buNone/>
            </a:pPr>
            <a:r>
              <a:rPr lang="en-US" sz="1500" b="1" dirty="0">
                <a:solidFill>
                  <a:srgbClr val="FFFFFF"/>
                </a:solidFill>
                <a:latin typeface="Calibri" pitchFamily="34" charset="0"/>
                <a:ea typeface="Calibri" pitchFamily="34" charset="-122"/>
                <a:cs typeface="Calibri" pitchFamily="34" charset="-120"/>
              </a:rPr>
              <a:t>Step 3</a:t>
            </a:r>
            <a:endParaRPr lang="en-US" sz="1500" dirty="0"/>
          </a:p>
        </p:txBody>
      </p:sp>
      <p:sp>
        <p:nvSpPr>
          <p:cNvPr id="50" name="Text 48"/>
          <p:cNvSpPr/>
          <p:nvPr/>
        </p:nvSpPr>
        <p:spPr>
          <a:xfrm>
            <a:off x="640080" y="4198010"/>
            <a:ext cx="2103120" cy="226771"/>
          </a:xfrm>
          <a:prstGeom prst="rect">
            <a:avLst/>
          </a:prstGeom>
          <a:noFill/>
          <a:ln/>
        </p:spPr>
        <p:txBody>
          <a:bodyPr wrap="square" lIns="0" tIns="0" rIns="0" bIns="0" rtlCol="0" anchor="t"/>
          <a:lstStyle/>
          <a:p>
            <a:pPr marL="0" indent="0" algn="l">
              <a:buNone/>
            </a:pPr>
            <a:r>
              <a:rPr lang="en-US" sz="1050" dirty="0">
                <a:solidFill>
                  <a:srgbClr val="9FB3CF"/>
                </a:solidFill>
                <a:latin typeface="Calibri" pitchFamily="34" charset="0"/>
                <a:ea typeface="Calibri" pitchFamily="34" charset="-122"/>
                <a:cs typeface="Calibri" pitchFamily="34" charset="-120"/>
              </a:rPr>
              <a:t>compare with 15</a:t>
            </a:r>
            <a:endParaRPr lang="en-US" sz="1050" dirty="0"/>
          </a:p>
        </p:txBody>
      </p:sp>
      <p:sp>
        <p:nvSpPr>
          <p:cNvPr id="51" name="Shape 49"/>
          <p:cNvSpPr/>
          <p:nvPr/>
        </p:nvSpPr>
        <p:spPr>
          <a:xfrm>
            <a:off x="2743200"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52" name="Text 50"/>
          <p:cNvSpPr/>
          <p:nvPr/>
        </p:nvSpPr>
        <p:spPr>
          <a:xfrm>
            <a:off x="2743200"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1</a:t>
            </a:r>
            <a:endParaRPr lang="en-US" sz="1600" dirty="0"/>
          </a:p>
        </p:txBody>
      </p:sp>
      <p:sp>
        <p:nvSpPr>
          <p:cNvPr id="53" name="Shape 51"/>
          <p:cNvSpPr/>
          <p:nvPr/>
        </p:nvSpPr>
        <p:spPr>
          <a:xfrm>
            <a:off x="3438144"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54" name="Text 52"/>
          <p:cNvSpPr/>
          <p:nvPr/>
        </p:nvSpPr>
        <p:spPr>
          <a:xfrm>
            <a:off x="3438144"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3</a:t>
            </a:r>
            <a:endParaRPr lang="en-US" sz="1600" dirty="0"/>
          </a:p>
        </p:txBody>
      </p:sp>
      <p:sp>
        <p:nvSpPr>
          <p:cNvPr id="55" name="Shape 53"/>
          <p:cNvSpPr/>
          <p:nvPr/>
        </p:nvSpPr>
        <p:spPr>
          <a:xfrm>
            <a:off x="4133088"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56" name="Text 54"/>
          <p:cNvSpPr/>
          <p:nvPr/>
        </p:nvSpPr>
        <p:spPr>
          <a:xfrm>
            <a:off x="4133088"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5</a:t>
            </a:r>
            <a:endParaRPr lang="en-US" sz="1600" dirty="0"/>
          </a:p>
        </p:txBody>
      </p:sp>
      <p:sp>
        <p:nvSpPr>
          <p:cNvPr id="57" name="Shape 55"/>
          <p:cNvSpPr/>
          <p:nvPr/>
        </p:nvSpPr>
        <p:spPr>
          <a:xfrm>
            <a:off x="4828032"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58" name="Text 56"/>
          <p:cNvSpPr/>
          <p:nvPr/>
        </p:nvSpPr>
        <p:spPr>
          <a:xfrm>
            <a:off x="4828032"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7</a:t>
            </a:r>
            <a:endParaRPr lang="en-US" sz="1600" dirty="0"/>
          </a:p>
        </p:txBody>
      </p:sp>
      <p:sp>
        <p:nvSpPr>
          <p:cNvPr id="59" name="Shape 57"/>
          <p:cNvSpPr/>
          <p:nvPr/>
        </p:nvSpPr>
        <p:spPr>
          <a:xfrm>
            <a:off x="5522976"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60" name="Text 58"/>
          <p:cNvSpPr/>
          <p:nvPr/>
        </p:nvSpPr>
        <p:spPr>
          <a:xfrm>
            <a:off x="5522976"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9</a:t>
            </a:r>
            <a:endParaRPr lang="en-US" sz="1600" dirty="0"/>
          </a:p>
        </p:txBody>
      </p:sp>
      <p:sp>
        <p:nvSpPr>
          <p:cNvPr id="61" name="Shape 59"/>
          <p:cNvSpPr/>
          <p:nvPr/>
        </p:nvSpPr>
        <p:spPr>
          <a:xfrm>
            <a:off x="6217920"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62" name="Text 60"/>
          <p:cNvSpPr/>
          <p:nvPr/>
        </p:nvSpPr>
        <p:spPr>
          <a:xfrm>
            <a:off x="6217920"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11</a:t>
            </a:r>
            <a:endParaRPr lang="en-US" sz="1600" dirty="0"/>
          </a:p>
        </p:txBody>
      </p:sp>
      <p:sp>
        <p:nvSpPr>
          <p:cNvPr id="63" name="Shape 61"/>
          <p:cNvSpPr/>
          <p:nvPr/>
        </p:nvSpPr>
        <p:spPr>
          <a:xfrm>
            <a:off x="6912864" y="3886200"/>
            <a:ext cx="566928" cy="566928"/>
          </a:xfrm>
          <a:prstGeom prst="roundRect">
            <a:avLst>
              <a:gd name="adj" fmla="val 12903"/>
            </a:avLst>
          </a:prstGeom>
          <a:solidFill>
            <a:srgbClr val="0A1930"/>
          </a:solidFill>
          <a:ln w="15875">
            <a:solidFill>
              <a:srgbClr val="1B2C4A"/>
            </a:solidFill>
            <a:prstDash val="solid"/>
          </a:ln>
        </p:spPr>
        <p:txBody>
          <a:bodyPr/>
          <a:lstStyle/>
          <a:p>
            <a:endParaRPr lang="fr-MA"/>
          </a:p>
        </p:txBody>
      </p:sp>
      <p:sp>
        <p:nvSpPr>
          <p:cNvPr id="64" name="Text 62"/>
          <p:cNvSpPr/>
          <p:nvPr/>
        </p:nvSpPr>
        <p:spPr>
          <a:xfrm>
            <a:off x="6912864" y="3886200"/>
            <a:ext cx="566928" cy="566928"/>
          </a:xfrm>
          <a:prstGeom prst="rect">
            <a:avLst/>
          </a:prstGeom>
          <a:noFill/>
          <a:ln/>
        </p:spPr>
        <p:txBody>
          <a:bodyPr wrap="square" lIns="0" tIns="0" rIns="0" bIns="0" rtlCol="0" anchor="ctr"/>
          <a:lstStyle/>
          <a:p>
            <a:pPr marL="0" indent="0" algn="ctr">
              <a:buNone/>
            </a:pPr>
            <a:r>
              <a:rPr lang="en-US" sz="1600" b="1" dirty="0">
                <a:solidFill>
                  <a:srgbClr val="3E5273"/>
                </a:solidFill>
                <a:latin typeface="Calibri" pitchFamily="34" charset="0"/>
                <a:ea typeface="Calibri" pitchFamily="34" charset="-122"/>
                <a:cs typeface="Calibri" pitchFamily="34" charset="-120"/>
              </a:rPr>
              <a:t>13</a:t>
            </a:r>
            <a:endParaRPr lang="en-US" sz="1600" dirty="0"/>
          </a:p>
        </p:txBody>
      </p:sp>
      <p:sp>
        <p:nvSpPr>
          <p:cNvPr id="65" name="Shape 63"/>
          <p:cNvSpPr/>
          <p:nvPr/>
        </p:nvSpPr>
        <p:spPr>
          <a:xfrm>
            <a:off x="7607808" y="3886200"/>
            <a:ext cx="566928" cy="566928"/>
          </a:xfrm>
          <a:prstGeom prst="roundRect">
            <a:avLst>
              <a:gd name="adj" fmla="val 12903"/>
            </a:avLst>
          </a:prstGeom>
          <a:solidFill>
            <a:srgbClr val="D4AF37"/>
          </a:solidFill>
          <a:ln w="15875">
            <a:solidFill>
              <a:srgbClr val="D4AF37"/>
            </a:solidFill>
            <a:prstDash val="solid"/>
          </a:ln>
        </p:spPr>
        <p:txBody>
          <a:bodyPr/>
          <a:lstStyle/>
          <a:p>
            <a:endParaRPr lang="fr-MA"/>
          </a:p>
        </p:txBody>
      </p:sp>
      <p:sp>
        <p:nvSpPr>
          <p:cNvPr id="66" name="Text 64"/>
          <p:cNvSpPr/>
          <p:nvPr/>
        </p:nvSpPr>
        <p:spPr>
          <a:xfrm>
            <a:off x="7607808" y="3886200"/>
            <a:ext cx="566928" cy="566928"/>
          </a:xfrm>
          <a:prstGeom prst="rect">
            <a:avLst/>
          </a:prstGeom>
          <a:noFill/>
          <a:ln/>
        </p:spPr>
        <p:txBody>
          <a:bodyPr wrap="square" lIns="0" tIns="0" rIns="0" bIns="0" rtlCol="0" anchor="ctr"/>
          <a:lstStyle/>
          <a:p>
            <a:pPr marL="0" indent="0" algn="ctr">
              <a:buNone/>
            </a:pPr>
            <a:r>
              <a:rPr lang="en-US" sz="1600" b="1" dirty="0">
                <a:solidFill>
                  <a:srgbClr val="0A1930"/>
                </a:solidFill>
                <a:latin typeface="Calibri" pitchFamily="34" charset="0"/>
                <a:ea typeface="Calibri" pitchFamily="34" charset="-122"/>
                <a:cs typeface="Calibri" pitchFamily="34" charset="-120"/>
              </a:rPr>
              <a:t>15</a:t>
            </a:r>
            <a:endParaRPr lang="en-US" sz="1600" dirty="0"/>
          </a:p>
        </p:txBody>
      </p:sp>
      <p:sp>
        <p:nvSpPr>
          <p:cNvPr id="67" name="Shape 65"/>
          <p:cNvSpPr/>
          <p:nvPr/>
        </p:nvSpPr>
        <p:spPr>
          <a:xfrm>
            <a:off x="8302752" y="3886200"/>
            <a:ext cx="566928" cy="566928"/>
          </a:xfrm>
          <a:prstGeom prst="roundRect">
            <a:avLst>
              <a:gd name="adj" fmla="val 12903"/>
            </a:avLst>
          </a:prstGeom>
          <a:solidFill>
            <a:srgbClr val="132A4E"/>
          </a:solidFill>
          <a:ln w="15875">
            <a:solidFill>
              <a:srgbClr val="24406E"/>
            </a:solidFill>
            <a:prstDash val="solid"/>
          </a:ln>
        </p:spPr>
        <p:txBody>
          <a:bodyPr/>
          <a:lstStyle/>
          <a:p>
            <a:endParaRPr lang="fr-MA"/>
          </a:p>
        </p:txBody>
      </p:sp>
      <p:sp>
        <p:nvSpPr>
          <p:cNvPr id="68" name="Text 66"/>
          <p:cNvSpPr/>
          <p:nvPr/>
        </p:nvSpPr>
        <p:spPr>
          <a:xfrm>
            <a:off x="8302752" y="3886200"/>
            <a:ext cx="566928" cy="56692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17</a:t>
            </a:r>
            <a:endParaRPr lang="en-US" sz="1600" dirty="0"/>
          </a:p>
        </p:txBody>
      </p:sp>
      <p:sp>
        <p:nvSpPr>
          <p:cNvPr id="69" name="Text 67"/>
          <p:cNvSpPr/>
          <p:nvPr/>
        </p:nvSpPr>
        <p:spPr>
          <a:xfrm>
            <a:off x="9189720" y="3886200"/>
            <a:ext cx="2743200" cy="566928"/>
          </a:xfrm>
          <a:prstGeom prst="rect">
            <a:avLst/>
          </a:prstGeom>
          <a:noFill/>
          <a:ln/>
        </p:spPr>
        <p:txBody>
          <a:bodyPr wrap="square" lIns="0" tIns="0" rIns="0" bIns="0" rtlCol="0" anchor="ctr"/>
          <a:lstStyle/>
          <a:p>
            <a:pPr marL="0" indent="0" algn="l">
              <a:buNone/>
            </a:pPr>
            <a:r>
              <a:rPr lang="en-US" sz="1250" i="1" dirty="0">
                <a:solidFill>
                  <a:srgbClr val="D4AF37"/>
                </a:solidFill>
                <a:latin typeface="Calibri" pitchFamily="34" charset="0"/>
                <a:ea typeface="Calibri" pitchFamily="34" charset="-122"/>
                <a:cs typeface="Calibri" pitchFamily="34" charset="-120"/>
              </a:rPr>
              <a:t>15 = 15 → target found!</a:t>
            </a:r>
            <a:endParaRPr lang="en-US" sz="1250" dirty="0"/>
          </a:p>
        </p:txBody>
      </p:sp>
      <p:sp>
        <p:nvSpPr>
          <p:cNvPr id="70" name="Text 68"/>
          <p:cNvSpPr/>
          <p:nvPr/>
        </p:nvSpPr>
        <p:spPr>
          <a:xfrm>
            <a:off x="640080" y="5074920"/>
            <a:ext cx="10881360" cy="365760"/>
          </a:xfrm>
          <a:prstGeom prst="rect">
            <a:avLst/>
          </a:prstGeom>
          <a:noFill/>
          <a:ln/>
        </p:spPr>
        <p:txBody>
          <a:bodyPr wrap="square" lIns="0" tIns="0" rIns="0" bIns="0" rtlCol="0" anchor="t"/>
          <a:lstStyle/>
          <a:p>
            <a:pPr marL="0" indent="0" algn="l">
              <a:buNone/>
            </a:pPr>
            <a:r>
              <a:rPr lang="en-US" sz="1200" dirty="0">
                <a:solidFill>
                  <a:srgbClr val="E9CE72"/>
                </a:solidFill>
                <a:latin typeface="Calibri" pitchFamily="34" charset="0"/>
                <a:ea typeface="Calibri" pitchFamily="34" charset="-122"/>
                <a:cs typeface="Calibri" pitchFamily="34" charset="-120"/>
              </a:rPr>
              <a:t>Target: 15  •  Array is sorted, length 9  •  Found in 3 comparisons (vs. up to 9 for a linear scan)</a:t>
            </a:r>
            <a:endParaRPr lang="en-US" sz="1200" dirty="0"/>
          </a:p>
        </p:txBody>
      </p:sp>
      <p:sp>
        <p:nvSpPr>
          <p:cNvPr id="71" name="Shape 69"/>
          <p:cNvSpPr/>
          <p:nvPr/>
        </p:nvSpPr>
        <p:spPr>
          <a:xfrm>
            <a:off x="4206240" y="6080760"/>
            <a:ext cx="274320" cy="274320"/>
          </a:xfrm>
          <a:prstGeom prst="roundRect">
            <a:avLst>
              <a:gd name="adj" fmla="val 20000"/>
            </a:avLst>
          </a:prstGeom>
          <a:solidFill>
            <a:srgbClr val="D4AF37"/>
          </a:solidFill>
          <a:ln w="15875">
            <a:solidFill>
              <a:srgbClr val="D4AF37"/>
            </a:solidFill>
            <a:prstDash val="solid"/>
          </a:ln>
        </p:spPr>
        <p:txBody>
          <a:bodyPr/>
          <a:lstStyle/>
          <a:p>
            <a:endParaRPr lang="fr-MA"/>
          </a:p>
        </p:txBody>
      </p:sp>
      <p:sp>
        <p:nvSpPr>
          <p:cNvPr id="72" name="Text 70"/>
          <p:cNvSpPr/>
          <p:nvPr/>
        </p:nvSpPr>
        <p:spPr>
          <a:xfrm>
            <a:off x="4553712" y="6053328"/>
            <a:ext cx="1737360" cy="329184"/>
          </a:xfrm>
          <a:prstGeom prst="rect">
            <a:avLst/>
          </a:prstGeom>
          <a:noFill/>
          <a:ln/>
        </p:spPr>
        <p:txBody>
          <a:bodyPr wrap="square" lIns="0" tIns="0" rIns="0" bIns="0" rtlCol="0" anchor="ctr"/>
          <a:lstStyle/>
          <a:p>
            <a:pPr marL="0" indent="0" algn="l">
              <a:buNone/>
            </a:pPr>
            <a:r>
              <a:rPr lang="en-US" sz="1050" dirty="0">
                <a:solidFill>
                  <a:srgbClr val="9FB3CF"/>
                </a:solidFill>
                <a:latin typeface="Calibri" pitchFamily="34" charset="0"/>
                <a:ea typeface="Calibri" pitchFamily="34" charset="-122"/>
                <a:cs typeface="Calibri" pitchFamily="34" charset="-120"/>
              </a:rPr>
              <a:t>Found</a:t>
            </a:r>
            <a:endParaRPr lang="en-US" sz="1050" dirty="0"/>
          </a:p>
        </p:txBody>
      </p:sp>
      <p:sp>
        <p:nvSpPr>
          <p:cNvPr id="73" name="Shape 71"/>
          <p:cNvSpPr/>
          <p:nvPr/>
        </p:nvSpPr>
        <p:spPr>
          <a:xfrm>
            <a:off x="6217920" y="6080760"/>
            <a:ext cx="274320" cy="274320"/>
          </a:xfrm>
          <a:prstGeom prst="roundRect">
            <a:avLst>
              <a:gd name="adj" fmla="val 20000"/>
            </a:avLst>
          </a:prstGeom>
          <a:solidFill>
            <a:srgbClr val="132A4E"/>
          </a:solidFill>
          <a:ln w="15875">
            <a:solidFill>
              <a:srgbClr val="D4AF37"/>
            </a:solidFill>
            <a:prstDash val="solid"/>
          </a:ln>
        </p:spPr>
        <p:txBody>
          <a:bodyPr/>
          <a:lstStyle/>
          <a:p>
            <a:endParaRPr lang="fr-MA"/>
          </a:p>
        </p:txBody>
      </p:sp>
      <p:sp>
        <p:nvSpPr>
          <p:cNvPr id="74" name="Text 72"/>
          <p:cNvSpPr/>
          <p:nvPr/>
        </p:nvSpPr>
        <p:spPr>
          <a:xfrm>
            <a:off x="6565392" y="6053328"/>
            <a:ext cx="1737360" cy="329184"/>
          </a:xfrm>
          <a:prstGeom prst="rect">
            <a:avLst/>
          </a:prstGeom>
          <a:noFill/>
          <a:ln/>
        </p:spPr>
        <p:txBody>
          <a:bodyPr wrap="square" lIns="0" tIns="0" rIns="0" bIns="0" rtlCol="0" anchor="ctr"/>
          <a:lstStyle/>
          <a:p>
            <a:pPr marL="0" indent="0" algn="l">
              <a:buNone/>
            </a:pPr>
            <a:r>
              <a:rPr lang="en-US" sz="1050" dirty="0">
                <a:solidFill>
                  <a:srgbClr val="9FB3CF"/>
                </a:solidFill>
                <a:latin typeface="Calibri" pitchFamily="34" charset="0"/>
                <a:ea typeface="Calibri" pitchFamily="34" charset="-122"/>
                <a:cs typeface="Calibri" pitchFamily="34" charset="-120"/>
              </a:rPr>
              <a:t>Currently comparing</a:t>
            </a:r>
            <a:endParaRPr lang="en-US" sz="1050" dirty="0"/>
          </a:p>
        </p:txBody>
      </p:sp>
      <p:sp>
        <p:nvSpPr>
          <p:cNvPr id="75" name="Shape 73"/>
          <p:cNvSpPr/>
          <p:nvPr/>
        </p:nvSpPr>
        <p:spPr>
          <a:xfrm>
            <a:off x="8229600" y="6080760"/>
            <a:ext cx="274320" cy="274320"/>
          </a:xfrm>
          <a:prstGeom prst="roundRect">
            <a:avLst>
              <a:gd name="adj" fmla="val 20000"/>
            </a:avLst>
          </a:prstGeom>
          <a:solidFill>
            <a:srgbClr val="132A4E"/>
          </a:solidFill>
          <a:ln w="15875">
            <a:solidFill>
              <a:srgbClr val="24406E"/>
            </a:solidFill>
            <a:prstDash val="solid"/>
          </a:ln>
        </p:spPr>
        <p:txBody>
          <a:bodyPr/>
          <a:lstStyle/>
          <a:p>
            <a:endParaRPr lang="fr-MA"/>
          </a:p>
        </p:txBody>
      </p:sp>
      <p:sp>
        <p:nvSpPr>
          <p:cNvPr id="76" name="Text 74"/>
          <p:cNvSpPr/>
          <p:nvPr/>
        </p:nvSpPr>
        <p:spPr>
          <a:xfrm>
            <a:off x="8577072" y="6053328"/>
            <a:ext cx="1737360" cy="329184"/>
          </a:xfrm>
          <a:prstGeom prst="rect">
            <a:avLst/>
          </a:prstGeom>
          <a:noFill/>
          <a:ln/>
        </p:spPr>
        <p:txBody>
          <a:bodyPr wrap="square" lIns="0" tIns="0" rIns="0" bIns="0" rtlCol="0" anchor="ctr"/>
          <a:lstStyle/>
          <a:p>
            <a:pPr marL="0" indent="0" algn="l">
              <a:buNone/>
            </a:pPr>
            <a:r>
              <a:rPr lang="en-US" sz="1050" dirty="0">
                <a:solidFill>
                  <a:srgbClr val="9FB3CF"/>
                </a:solidFill>
                <a:latin typeface="Calibri" pitchFamily="34" charset="0"/>
                <a:ea typeface="Calibri" pitchFamily="34" charset="-122"/>
                <a:cs typeface="Calibri" pitchFamily="34" charset="-120"/>
              </a:rPr>
              <a:t>Still in range</a:t>
            </a:r>
            <a:endParaRPr lang="en-US" sz="1050" dirty="0"/>
          </a:p>
        </p:txBody>
      </p:sp>
      <p:sp>
        <p:nvSpPr>
          <p:cNvPr id="77" name="Shape 75"/>
          <p:cNvSpPr/>
          <p:nvPr/>
        </p:nvSpPr>
        <p:spPr>
          <a:xfrm>
            <a:off x="10241280" y="6080760"/>
            <a:ext cx="274320" cy="274320"/>
          </a:xfrm>
          <a:prstGeom prst="roundRect">
            <a:avLst>
              <a:gd name="adj" fmla="val 20000"/>
            </a:avLst>
          </a:prstGeom>
          <a:solidFill>
            <a:srgbClr val="0A1930"/>
          </a:solidFill>
          <a:ln w="15875">
            <a:solidFill>
              <a:srgbClr val="1B2C4A"/>
            </a:solidFill>
            <a:prstDash val="solid"/>
          </a:ln>
        </p:spPr>
        <p:txBody>
          <a:bodyPr/>
          <a:lstStyle/>
          <a:p>
            <a:endParaRPr lang="fr-MA"/>
          </a:p>
        </p:txBody>
      </p:sp>
      <p:sp>
        <p:nvSpPr>
          <p:cNvPr id="78" name="Text 76"/>
          <p:cNvSpPr/>
          <p:nvPr/>
        </p:nvSpPr>
        <p:spPr>
          <a:xfrm>
            <a:off x="10588752" y="6053328"/>
            <a:ext cx="1737360" cy="329184"/>
          </a:xfrm>
          <a:prstGeom prst="rect">
            <a:avLst/>
          </a:prstGeom>
          <a:noFill/>
          <a:ln/>
        </p:spPr>
        <p:txBody>
          <a:bodyPr wrap="square" lIns="0" tIns="0" rIns="0" bIns="0" rtlCol="0" anchor="ctr"/>
          <a:lstStyle/>
          <a:p>
            <a:pPr marL="0" indent="0" algn="l">
              <a:buNone/>
            </a:pPr>
            <a:r>
              <a:rPr lang="en-US" sz="1050" dirty="0">
                <a:solidFill>
                  <a:srgbClr val="9FB3CF"/>
                </a:solidFill>
                <a:latin typeface="Calibri" pitchFamily="34" charset="0"/>
                <a:ea typeface="Calibri" pitchFamily="34" charset="-122"/>
                <a:cs typeface="Calibri" pitchFamily="34" charset="-120"/>
              </a:rPr>
              <a:t>Eliminated</a:t>
            </a:r>
            <a:endParaRPr lang="en-US" sz="10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930"/>
          </a:solidFill>
          <a:ln/>
        </p:spPr>
        <p:txBody>
          <a:bodyPr/>
          <a:lstStyle/>
          <a:p>
            <a:endParaRPr lang="fr-MA"/>
          </a:p>
        </p:txBody>
      </p:sp>
      <p:sp>
        <p:nvSpPr>
          <p:cNvPr id="3" name="Text 1"/>
          <p:cNvSpPr/>
          <p:nvPr/>
        </p:nvSpPr>
        <p:spPr>
          <a:xfrm>
            <a:off x="0" y="5074920"/>
            <a:ext cx="12191695" cy="1463040"/>
          </a:xfrm>
          <a:prstGeom prst="rect">
            <a:avLst/>
          </a:prstGeom>
          <a:noFill/>
          <a:ln/>
        </p:spPr>
        <p:txBody>
          <a:bodyPr wrap="square" lIns="0" tIns="0" rIns="0" bIns="0" rtlCol="0" anchor="ctr"/>
          <a:lstStyle/>
          <a:p>
            <a:pPr marL="0" indent="0" algn="ctr">
              <a:buNone/>
            </a:pPr>
            <a:r>
              <a:rPr lang="en-US" sz="9000" b="1" kern="0" spc="400" dirty="0">
                <a:solidFill>
                  <a:srgbClr val="132A4E"/>
                </a:solidFill>
                <a:latin typeface="Cambria" pitchFamily="34" charset="0"/>
                <a:ea typeface="Cambria" pitchFamily="34" charset="-122"/>
                <a:cs typeface="Cambria" pitchFamily="34" charset="-120"/>
              </a:rPr>
              <a:t>2  3  4  5  8</a:t>
            </a:r>
            <a:endParaRPr lang="en-US" sz="9000" dirty="0"/>
          </a:p>
        </p:txBody>
      </p:sp>
      <p:sp>
        <p:nvSpPr>
          <p:cNvPr id="4" name="Shape 2"/>
          <p:cNvSpPr/>
          <p:nvPr/>
        </p:nvSpPr>
        <p:spPr>
          <a:xfrm>
            <a:off x="868680" y="2212848"/>
            <a:ext cx="1280160" cy="0"/>
          </a:xfrm>
          <a:prstGeom prst="line">
            <a:avLst/>
          </a:prstGeom>
          <a:noFill/>
          <a:ln w="25400">
            <a:solidFill>
              <a:srgbClr val="D4AF37"/>
            </a:solidFill>
            <a:prstDash val="solid"/>
          </a:ln>
        </p:spPr>
        <p:txBody>
          <a:bodyPr/>
          <a:lstStyle/>
          <a:p>
            <a:endParaRPr lang="fr-MA"/>
          </a:p>
        </p:txBody>
      </p:sp>
      <p:sp>
        <p:nvSpPr>
          <p:cNvPr id="5" name="Text 3"/>
          <p:cNvSpPr/>
          <p:nvPr/>
        </p:nvSpPr>
        <p:spPr>
          <a:xfrm>
            <a:off x="822960" y="2331720"/>
            <a:ext cx="10545775" cy="365760"/>
          </a:xfrm>
          <a:prstGeom prst="rect">
            <a:avLst/>
          </a:prstGeom>
          <a:noFill/>
          <a:ln/>
        </p:spPr>
        <p:txBody>
          <a:bodyPr wrap="square" lIns="0" tIns="0" rIns="0" bIns="0" rtlCol="0" anchor="ctr"/>
          <a:lstStyle/>
          <a:p>
            <a:pPr marL="0" indent="0" algn="l">
              <a:buNone/>
            </a:pPr>
            <a:r>
              <a:rPr lang="en-US" sz="1400" b="1" kern="0" spc="400" dirty="0">
                <a:solidFill>
                  <a:srgbClr val="D4AF37"/>
                </a:solidFill>
                <a:latin typeface="Calibri" pitchFamily="34" charset="0"/>
                <a:ea typeface="Calibri" pitchFamily="34" charset="-122"/>
                <a:cs typeface="Calibri" pitchFamily="34" charset="-120"/>
              </a:rPr>
              <a:t>THANK YOU FOR YOUR ATTENTION</a:t>
            </a:r>
            <a:endParaRPr lang="en-US" sz="1400" dirty="0"/>
          </a:p>
        </p:txBody>
      </p:sp>
      <p:sp>
        <p:nvSpPr>
          <p:cNvPr id="6" name="Text 4"/>
          <p:cNvSpPr/>
          <p:nvPr/>
        </p:nvSpPr>
        <p:spPr>
          <a:xfrm>
            <a:off x="822960" y="2697480"/>
            <a:ext cx="10545775" cy="118872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Fin</a:t>
            </a:r>
            <a:endParaRPr lang="en-US" sz="5400" dirty="0"/>
          </a:p>
        </p:txBody>
      </p:sp>
      <p:sp>
        <p:nvSpPr>
          <p:cNvPr id="7" name="Text 5"/>
          <p:cNvSpPr/>
          <p:nvPr/>
        </p:nvSpPr>
        <p:spPr>
          <a:xfrm>
            <a:off x="822960" y="3703320"/>
            <a:ext cx="10545775" cy="457200"/>
          </a:xfrm>
          <a:prstGeom prst="rect">
            <a:avLst/>
          </a:prstGeom>
          <a:noFill/>
          <a:ln/>
        </p:spPr>
        <p:txBody>
          <a:bodyPr wrap="square" lIns="0" tIns="0" rIns="0" bIns="0" rtlCol="0" anchor="ctr"/>
          <a:lstStyle/>
          <a:p>
            <a:pPr marL="0" indent="0" algn="l">
              <a:buNone/>
            </a:pPr>
            <a:r>
              <a:rPr lang="en-US" sz="1800" dirty="0">
                <a:solidFill>
                  <a:srgbClr val="E9CE72"/>
                </a:solidFill>
                <a:latin typeface="Calibri" pitchFamily="34" charset="0"/>
                <a:ea typeface="Calibri" pitchFamily="34" charset="-122"/>
                <a:cs typeface="Calibri" pitchFamily="34" charset="-120"/>
              </a:rPr>
              <a:t>Questions ?</a:t>
            </a:r>
            <a:endParaRPr lang="en-US" sz="1800" dirty="0"/>
          </a:p>
        </p:txBody>
      </p:sp>
      <p:sp>
        <p:nvSpPr>
          <p:cNvPr id="8" name="Text 6"/>
          <p:cNvSpPr/>
          <p:nvPr/>
        </p:nvSpPr>
        <p:spPr>
          <a:xfrm>
            <a:off x="457200" y="6446520"/>
            <a:ext cx="5486400" cy="274320"/>
          </a:xfrm>
          <a:prstGeom prst="rect">
            <a:avLst/>
          </a:prstGeom>
          <a:noFill/>
          <a:ln/>
        </p:spPr>
        <p:txBody>
          <a:bodyPr wrap="square" lIns="0" tIns="0" rIns="0" bIns="0" rtlCol="0" anchor="ctr"/>
          <a:lstStyle/>
          <a:p>
            <a:pPr marL="0" indent="0" algn="l">
              <a:buNone/>
            </a:pPr>
            <a:r>
              <a:rPr lang="en-US" sz="1000" dirty="0">
                <a:solidFill>
                  <a:srgbClr val="9FB3CF"/>
                </a:solidFill>
                <a:latin typeface="Calibri" pitchFamily="34" charset="0"/>
                <a:ea typeface="Calibri" pitchFamily="34" charset="-122"/>
                <a:cs typeface="Calibri" pitchFamily="34" charset="-120"/>
              </a:rPr>
              <a:t>Sorting Algorithms</a:t>
            </a:r>
            <a:endParaRPr lang="en-US" sz="1000" dirty="0"/>
          </a:p>
        </p:txBody>
      </p:sp>
      <p:sp>
        <p:nvSpPr>
          <p:cNvPr id="9" name="Text 7"/>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9FB3CF"/>
                </a:solidFill>
                <a:latin typeface="Calibri" pitchFamily="34" charset="0"/>
                <a:ea typeface="Calibri" pitchFamily="34" charset="-122"/>
                <a:cs typeface="Calibri" pitchFamily="34" charset="-120"/>
              </a:rPr>
              <a:t>11</a:t>
            </a:r>
            <a:endParaRPr lang="en-US"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922</Words>
  <Application>Microsoft Office PowerPoint</Application>
  <PresentationFormat>Grand écran</PresentationFormat>
  <Paragraphs>276</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 young</cp:lastModifiedBy>
  <cp:revision>3</cp:revision>
  <dcterms:created xsi:type="dcterms:W3CDTF">2026-09-06T08:26:09Z</dcterms:created>
  <dcterms:modified xsi:type="dcterms:W3CDTF">2026-09-07T18:17:06Z</dcterms:modified>
</cp:coreProperties>
</file>